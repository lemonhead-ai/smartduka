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2" r:id="rId9"/>
    <p:sldId id="263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990" autoAdjust="0"/>
    <p:restoredTop sz="94610"/>
  </p:normalViewPr>
  <p:slideViewPr>
    <p:cSldViewPr snapToGrid="0" snapToObjects="1">
      <p:cViewPr varScale="1">
        <p:scale>
          <a:sx n="58" d="100"/>
          <a:sy n="58" d="100"/>
        </p:scale>
        <p:origin x="56" y="1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255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02320" y="1265408"/>
            <a:ext cx="2545617" cy="2438664"/>
          </a:xfrm>
          <a:prstGeom prst="ellipse">
            <a:avLst/>
          </a:prstGeom>
          <a:solidFill>
            <a:srgbClr val="16A34A">
              <a:alpha val="12000"/>
            </a:srgbClr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4" name="Text 2"/>
          <p:cNvSpPr txBox="1"/>
          <p:nvPr/>
        </p:nvSpPr>
        <p:spPr>
          <a:xfrm>
            <a:off x="-59140" y="4720753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AI-Powered, gamified </a:t>
            </a:r>
            <a:r>
              <a:rPr lang="en-US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numeracy &amp; financial literacy for early learners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0" y="59436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 AI Academy Kenya · Pitchathon 2026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0" y="630936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Martin Mwai – Solo Founder</a:t>
            </a:r>
            <a:endParaRPr lang="en-US" sz="1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1962DE-95BE-4043-CD02-E9168E325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1" y="1039732"/>
            <a:ext cx="4584810" cy="3681021"/>
          </a:xfrm>
          <a:prstGeom prst="rect">
            <a:avLst/>
          </a:prstGeom>
        </p:spPr>
      </p:pic>
      <p:sp>
        <p:nvSpPr>
          <p:cNvPr id="18" name="Shape 0">
            <a:extLst>
              <a:ext uri="{FF2B5EF4-FFF2-40B4-BE49-F238E27FC236}">
                <a16:creationId xmlns:a16="http://schemas.microsoft.com/office/drawing/2014/main" id="{15E5D036-C1FB-9F3C-605E-1D38B4C2AA09}"/>
              </a:ext>
            </a:extLst>
          </p:cNvPr>
          <p:cNvSpPr/>
          <p:nvPr/>
        </p:nvSpPr>
        <p:spPr>
          <a:xfrm>
            <a:off x="78880" y="78115"/>
            <a:ext cx="3206527" cy="3060253"/>
          </a:xfrm>
          <a:prstGeom prst="ellipse">
            <a:avLst/>
          </a:prstGeom>
          <a:solidFill>
            <a:srgbClr val="16A34A">
              <a:alpha val="12000"/>
            </a:srgbClr>
          </a:solidFill>
          <a:ln/>
        </p:spPr>
        <p:txBody>
          <a:bodyPr/>
          <a:lstStyle/>
          <a:p>
            <a:endParaRPr lang="en-K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54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CRISIS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Kids fall behind before they even start.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48640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5" name="Shape 3"/>
          <p:cNvSpPr/>
          <p:nvPr/>
        </p:nvSpPr>
        <p:spPr>
          <a:xfrm>
            <a:off x="914400" y="2240280"/>
            <a:ext cx="54864" cy="347472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8" name="Text 6"/>
          <p:cNvSpPr txBox="1"/>
          <p:nvPr/>
        </p:nvSpPr>
        <p:spPr>
          <a:xfrm>
            <a:off x="8732520" y="194767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93992" y="3287486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2" name="Shape 10"/>
          <p:cNvSpPr/>
          <p:nvPr/>
        </p:nvSpPr>
        <p:spPr>
          <a:xfrm>
            <a:off x="6793992" y="482309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15" name="Text 13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1AB216-E3A7-3D22-8002-67CC96180CE6}"/>
              </a:ext>
            </a:extLst>
          </p:cNvPr>
          <p:cNvSpPr txBox="1"/>
          <p:nvPr/>
        </p:nvSpPr>
        <p:spPr>
          <a:xfrm>
            <a:off x="433977" y="1293257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rPr dirty="0"/>
              <a:t>Foundational literacy and applied numeracy gaps compound quietly into permanent economic exclusion.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BD5708-A066-EA79-189F-FAE2B1ECE816}"/>
              </a:ext>
            </a:extLst>
          </p:cNvPr>
          <p:cNvSpPr txBox="1"/>
          <p:nvPr/>
        </p:nvSpPr>
        <p:spPr>
          <a:xfrm>
            <a:off x="1188720" y="2209978"/>
            <a:ext cx="438912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rPr lang="en-US" sz="1400" dirty="0"/>
              <a:t>Based on a</a:t>
            </a:r>
            <a:r>
              <a:rPr sz="1400" dirty="0"/>
              <a:t> TRUE STORY</a:t>
            </a:r>
          </a:p>
          <a:p>
            <a:pPr>
              <a:spcBef>
                <a:spcPts val="1000"/>
              </a:spcBef>
              <a:defRPr sz="1400" i="1">
                <a:solidFill>
                  <a:srgbClr val="0F172A"/>
                </a:solidFill>
                <a:latin typeface="Montserrat"/>
              </a:defRPr>
            </a:pPr>
            <a:r>
              <a:rPr sz="1400" dirty="0"/>
              <a:t>“On my brother’s first day at a new school, the teacher asked where our parents were. He answered in Kamba instead of Swahili.</a:t>
            </a:r>
            <a:br>
              <a:rPr sz="1400" dirty="0"/>
            </a:br>
            <a:br>
              <a:rPr sz="1400" dirty="0"/>
            </a:br>
            <a:r>
              <a:rPr sz="1400" dirty="0"/>
              <a:t>In Kenya, language and conceptual gaps don't announce themselves — they become normal.”</a:t>
            </a:r>
          </a:p>
          <a:p>
            <a:pPr>
              <a:spcBef>
                <a:spcPts val="1200"/>
              </a:spcBef>
              <a:defRPr sz="1100" b="1">
                <a:solidFill>
                  <a:srgbClr val="64748B"/>
                </a:solidFill>
                <a:latin typeface="Segoe UI"/>
              </a:defRPr>
            </a:pPr>
            <a:r>
              <a:rPr sz="1400" dirty="0"/>
              <a:t>— Martin Mwai, Founder &amp; Lead Architect</a:t>
            </a:r>
          </a:p>
          <a:p>
            <a:pPr>
              <a:spcBef>
                <a:spcPts val="14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/>
              <a:t>Abstract Western EdTech drills ignore this reality. Children fail not from lack of intelligence, but because existing tools assume high-bandwidth connectivity and foreign idioms.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758FF1-DDDB-A6BC-18FD-B47768A63164}"/>
              </a:ext>
            </a:extLst>
          </p:cNvPr>
          <p:cNvSpPr txBox="1"/>
          <p:nvPr/>
        </p:nvSpPr>
        <p:spPr>
          <a:xfrm>
            <a:off x="6798346" y="1749538"/>
            <a:ext cx="46634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F4444"/>
                </a:solidFill>
                <a:latin typeface="Montserrat"/>
              </a:defRPr>
            </a:pPr>
            <a:r>
              <a:rPr dirty="0"/>
              <a:t>1 in 3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rPr sz="1400" dirty="0"/>
              <a:t>Primary learners in East Africa achieve basic arithmetic by Grade 3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rPr sz="1400" dirty="0"/>
              <a:t>Over 90% of children in Sub-Saharan Africa cannot read or perform basic arithmetic by age 10.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555572-D388-ED8C-D3CD-004AFD85613F}"/>
              </a:ext>
            </a:extLst>
          </p:cNvPr>
          <p:cNvSpPr txBox="1"/>
          <p:nvPr/>
        </p:nvSpPr>
        <p:spPr>
          <a:xfrm>
            <a:off x="6793992" y="3348097"/>
            <a:ext cx="46634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Montserrat"/>
              </a:defRPr>
            </a:pPr>
            <a:r>
              <a:rPr dirty="0"/>
              <a:t>84%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rPr sz="1400" dirty="0"/>
              <a:t>Of Kenya's workforce operates within the informal economy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rPr sz="1400" dirty="0"/>
              <a:t>Applied mental math, trade negotiation, and trust are fundamental daily survival skills.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F237B1-0108-89B0-2B5B-DAB34B98310E}"/>
              </a:ext>
            </a:extLst>
          </p:cNvPr>
          <p:cNvSpPr txBox="1"/>
          <p:nvPr/>
        </p:nvSpPr>
        <p:spPr>
          <a:xfrm>
            <a:off x="6798346" y="4903023"/>
            <a:ext cx="46634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81FB"/>
                </a:solidFill>
                <a:latin typeface="Montserrat"/>
              </a:defRPr>
            </a:pPr>
            <a:r>
              <a:rPr dirty="0"/>
              <a:t>78.3% Offline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rPr sz="1400" dirty="0"/>
              <a:t>With only 21.7% rural internet penetration, cloud EdTech fails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rPr sz="1400" dirty="0"/>
              <a:t>Mainstream solutions require high-speed continuous data, locking out millions of rural students.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CORE PRODUCT MECHANIC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child already knows what a duka is.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68780"/>
            <a:ext cx="10881360" cy="595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Duka (corner shop) is the most familiar commercial space in East Africa. SmartDuka turns it into an adaptive, gamified learning loop.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23159"/>
            <a:ext cx="3520440" cy="3977641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6" name="Shape 4"/>
          <p:cNvSpPr/>
          <p:nvPr/>
        </p:nvSpPr>
        <p:spPr>
          <a:xfrm>
            <a:off x="868680" y="27432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7" name="Text 5"/>
          <p:cNvSpPr txBox="1"/>
          <p:nvPr/>
        </p:nvSpPr>
        <p:spPr>
          <a:xfrm>
            <a:off x="86868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7660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Serve Customers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31919"/>
            <a:ext cx="2880360" cy="1655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AI-generated Kenyan customers with real shopping lists, in Swahili and English</a:t>
            </a:r>
          </a:p>
          <a:p>
            <a:pPr>
              <a:lnSpc>
                <a:spcPct val="125000"/>
              </a:lnSpc>
            </a:pPr>
            <a:b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Dynamic stock negotiation: Customers adapt when goods run low.</a:t>
            </a:r>
            <a:b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1999" y="5680166"/>
            <a:ext cx="2880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1" name="Text 9"/>
          <p:cNvSpPr txBox="1"/>
          <p:nvPr/>
        </p:nvSpPr>
        <p:spPr>
          <a:xfrm>
            <a:off x="761999" y="5748784"/>
            <a:ext cx="2880360" cy="55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 conversation adapts as items run low, negotiating substitutes in real time.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2423160"/>
            <a:ext cx="3520440" cy="39776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3" name="Shape 11"/>
          <p:cNvSpPr/>
          <p:nvPr/>
        </p:nvSpPr>
        <p:spPr>
          <a:xfrm>
            <a:off x="4709160" y="27432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4" name="Text 12"/>
          <p:cNvSpPr txBox="1"/>
          <p:nvPr/>
        </p:nvSpPr>
        <p:spPr>
          <a:xfrm>
            <a:off x="47091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509260" y="2788920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Give Change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709160" y="3930468"/>
            <a:ext cx="2880360" cy="1542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 KES transactions build numeracy the child never sees as a lesson</a:t>
            </a:r>
          </a:p>
          <a:p>
            <a:pPr marL="0" indent="0">
              <a:lnSpc>
                <a:spcPct val="125000"/>
              </a:lnSpc>
              <a:buNone/>
            </a:pPr>
            <a:endParaRPr lang="en-US" sz="1250" dirty="0">
              <a:solidFill>
                <a:srgbClr val="64748B"/>
              </a:solidFill>
              <a:latin typeface="Montserrat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</a:rPr>
              <a:t>Fast mental math under natural shop pressure without timed panic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09160" y="5685246"/>
            <a:ext cx="2880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8" name="Text 16"/>
          <p:cNvSpPr txBox="1"/>
          <p:nvPr/>
        </p:nvSpPr>
        <p:spPr>
          <a:xfrm>
            <a:off x="4709160" y="5748784"/>
            <a:ext cx="2880360" cy="55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Coins and notes, mental arithmetic under natural time pressure.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0" y="2423160"/>
            <a:ext cx="3520440" cy="39776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20" name="Shape 18"/>
          <p:cNvSpPr/>
          <p:nvPr/>
        </p:nvSpPr>
        <p:spPr>
          <a:xfrm>
            <a:off x="8549640" y="27432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21" name="Text 19"/>
          <p:cNvSpPr txBox="1"/>
          <p:nvPr/>
        </p:nvSpPr>
        <p:spPr>
          <a:xfrm>
            <a:off x="854964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60840" y="27889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Track the Ledger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549640" y="3852416"/>
            <a:ext cx="2880360" cy="162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Evaluate customer trust, verify repayment dates and issue credit</a:t>
            </a:r>
          </a:p>
          <a:p>
            <a:pPr marL="0" indent="0">
              <a:lnSpc>
                <a:spcPct val="125000"/>
              </a:lnSpc>
              <a:buNone/>
            </a:pPr>
            <a:endParaRPr lang="en-US" sz="1250" dirty="0">
              <a:solidFill>
                <a:srgbClr val="64748B"/>
              </a:solidFill>
              <a:latin typeface="Montserrat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</a:rPr>
              <a:t>Balances profit, loss, and community accountability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85632" y="5680166"/>
            <a:ext cx="2880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25" name="Text 23"/>
          <p:cNvSpPr txBox="1"/>
          <p:nvPr/>
        </p:nvSpPr>
        <p:spPr>
          <a:xfrm>
            <a:off x="8549640" y="5751687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Children evaluate trust, record debts, and balance repayments.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A21C83-BBF3-B24C-BEB3-231BF402F223}"/>
              </a:ext>
            </a:extLst>
          </p:cNvPr>
          <p:cNvSpPr txBox="1"/>
          <p:nvPr/>
        </p:nvSpPr>
        <p:spPr>
          <a:xfrm>
            <a:off x="4585715" y="3383280"/>
            <a:ext cx="270771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rPr dirty="0"/>
              <a:t>Applied Mental Arithmetic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5BF5670-C9F0-0E55-BCB5-9739E38DCC44}"/>
              </a:ext>
            </a:extLst>
          </p:cNvPr>
          <p:cNvSpPr txBox="1"/>
          <p:nvPr/>
        </p:nvSpPr>
        <p:spPr>
          <a:xfrm>
            <a:off x="761999" y="3300694"/>
            <a:ext cx="269965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rPr dirty="0"/>
              <a:t>Real-Time NPC Dialogue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BCD48C-C994-05AD-E8CB-DEE609897AD7}"/>
              </a:ext>
            </a:extLst>
          </p:cNvPr>
          <p:cNvSpPr txBox="1"/>
          <p:nvPr/>
        </p:nvSpPr>
        <p:spPr>
          <a:xfrm>
            <a:off x="8460740" y="3383279"/>
            <a:ext cx="29692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rPr dirty="0"/>
              <a:t>Daftari ya Deni (Credit Ledger)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&amp; AGENTS 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39" y="917991"/>
            <a:ext cx="4235501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3200" b="1" dirty="0"/>
              <a:t>Dual-Engine Architecture</a:t>
            </a:r>
            <a:endParaRPr lang="en-US" sz="3000" b="1" dirty="0"/>
          </a:p>
        </p:txBody>
      </p:sp>
      <p:sp>
        <p:nvSpPr>
          <p:cNvPr id="4" name="Shape 2"/>
          <p:cNvSpPr/>
          <p:nvPr/>
        </p:nvSpPr>
        <p:spPr>
          <a:xfrm>
            <a:off x="548639" y="2514600"/>
            <a:ext cx="5735117" cy="38404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5" name="Shape 3"/>
          <p:cNvSpPr/>
          <p:nvPr/>
        </p:nvSpPr>
        <p:spPr>
          <a:xfrm>
            <a:off x="914400" y="2834640"/>
            <a:ext cx="128016" cy="457200"/>
          </a:xfrm>
          <a:prstGeom prst="round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6" name="Text 4"/>
          <p:cNvSpPr txBox="1"/>
          <p:nvPr/>
        </p:nvSpPr>
        <p:spPr>
          <a:xfrm>
            <a:off x="1188720" y="278892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Customer Conversation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399" y="3474720"/>
            <a:ext cx="4930445" cy="133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Customers speak Swahili and English, negotiating substitutions live for instant; "agreeing to swap juice for milk" while the basket updates in real time.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5166360"/>
            <a:ext cx="46177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530352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Milo, the tutor mascot, watches quietly and steps in only when a child repeats the same mistake.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0A0033-5C35-152A-FE30-329055069D8F}"/>
              </a:ext>
            </a:extLst>
          </p:cNvPr>
          <p:cNvSpPr txBox="1"/>
          <p:nvPr/>
        </p:nvSpPr>
        <p:spPr>
          <a:xfrm>
            <a:off x="475489" y="1322156"/>
            <a:ext cx="31635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A) Conversational NPCs</a:t>
            </a:r>
            <a:endParaRPr lang="en-KE" sz="24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44B6F1-4B01-A50C-CE78-8B2E46FE7BBA}"/>
              </a:ext>
            </a:extLst>
          </p:cNvPr>
          <p:cNvSpPr txBox="1"/>
          <p:nvPr/>
        </p:nvSpPr>
        <p:spPr>
          <a:xfrm>
            <a:off x="475489" y="1774598"/>
            <a:ext cx="540044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rPr lang="en-US" sz="1600" dirty="0"/>
              <a:t>Live gameplay UI showing multi-lingual conversational AI dialogue.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DAA0AFC-AAC0-9929-86D3-B4ACC4485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148" y="386576"/>
            <a:ext cx="5968504" cy="59685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8">
            <a:extLst>
              <a:ext uri="{FF2B5EF4-FFF2-40B4-BE49-F238E27FC236}">
                <a16:creationId xmlns:a16="http://schemas.microsoft.com/office/drawing/2014/main" id="{3AC56C1D-2CB2-E997-A18F-415576207532}"/>
              </a:ext>
            </a:extLst>
          </p:cNvPr>
          <p:cNvSpPr/>
          <p:nvPr/>
        </p:nvSpPr>
        <p:spPr>
          <a:xfrm>
            <a:off x="5334610" y="2286000"/>
            <a:ext cx="5349240" cy="38404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5" name="Shape 9">
            <a:extLst>
              <a:ext uri="{FF2B5EF4-FFF2-40B4-BE49-F238E27FC236}">
                <a16:creationId xmlns:a16="http://schemas.microsoft.com/office/drawing/2014/main" id="{04DBD494-7F48-F683-262D-E52FCDEAD851}"/>
              </a:ext>
            </a:extLst>
          </p:cNvPr>
          <p:cNvSpPr/>
          <p:nvPr/>
        </p:nvSpPr>
        <p:spPr>
          <a:xfrm>
            <a:off x="5700370" y="2606040"/>
            <a:ext cx="128016" cy="457200"/>
          </a:xfrm>
          <a:prstGeom prst="round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C8B27349-FC85-5164-5942-CF18382DF6FE}"/>
              </a:ext>
            </a:extLst>
          </p:cNvPr>
          <p:cNvSpPr txBox="1"/>
          <p:nvPr/>
        </p:nvSpPr>
        <p:spPr>
          <a:xfrm>
            <a:off x="5974690" y="256032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Daftari ya Deni</a:t>
            </a:r>
            <a:endParaRPr lang="en-US" sz="1900" dirty="0"/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48B9525D-185B-04F7-FD04-4D2663EFA6D3}"/>
              </a:ext>
            </a:extLst>
          </p:cNvPr>
          <p:cNvSpPr txBox="1"/>
          <p:nvPr/>
        </p:nvSpPr>
        <p:spPr>
          <a:xfrm>
            <a:off x="5700370" y="324612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credit ledger system. Children evaluate a trusted customer's creditworthiness, record debits, and balance repayments — real micro-commerce, taught through play.</a:t>
            </a:r>
            <a:endParaRPr lang="en-US" sz="1600" dirty="0"/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033EC988-B23F-9EDC-BFAB-DF850B792E73}"/>
              </a:ext>
            </a:extLst>
          </p:cNvPr>
          <p:cNvSpPr txBox="1"/>
          <p:nvPr/>
        </p:nvSpPr>
        <p:spPr>
          <a:xfrm>
            <a:off x="5700370" y="507492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Introduces credit, trust, and repayment years before a bank account ever will.</a:t>
            </a:r>
            <a:endParaRPr lang="en-US" sz="1200" dirty="0"/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75B613E5-DAE6-2CA6-BAE9-539B65F6DB5D}"/>
              </a:ext>
            </a:extLst>
          </p:cNvPr>
          <p:cNvSpPr/>
          <p:nvPr/>
        </p:nvSpPr>
        <p:spPr>
          <a:xfrm>
            <a:off x="5700370" y="4937760"/>
            <a:ext cx="46177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6976D2-E8C1-2429-AA8F-B12CB1335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114" y="938678"/>
            <a:ext cx="5537604" cy="553760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362CA39-7F32-D3F1-33B3-5522496EAAF3}"/>
              </a:ext>
            </a:extLst>
          </p:cNvPr>
          <p:cNvSpPr txBox="1"/>
          <p:nvPr/>
        </p:nvSpPr>
        <p:spPr>
          <a:xfrm>
            <a:off x="5175637" y="727055"/>
            <a:ext cx="2358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b) Financial Logic</a:t>
            </a:r>
            <a:endParaRPr lang="en-KE" sz="24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E631A5-DCF9-42D1-90AE-2DD44C593BE2}"/>
              </a:ext>
            </a:extLst>
          </p:cNvPr>
          <p:cNvSpPr txBox="1"/>
          <p:nvPr/>
        </p:nvSpPr>
        <p:spPr>
          <a:xfrm>
            <a:off x="5175637" y="1325879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rPr lang="en-US" sz="1600" dirty="0"/>
              <a:t>T</a:t>
            </a:r>
            <a:r>
              <a:rPr sz="1600" dirty="0"/>
              <a:t>he real-world Daftari ya Deni credit ledger.</a:t>
            </a: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5D5804A5-6738-6D34-BC3E-38C7C6F5A10F}"/>
              </a:ext>
            </a:extLst>
          </p:cNvPr>
          <p:cNvSpPr txBox="1"/>
          <p:nvPr/>
        </p:nvSpPr>
        <p:spPr>
          <a:xfrm>
            <a:off x="438281" y="38171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&amp; AGENTS IN ACTION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277965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92278"/>
            <a:ext cx="31128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OFFLINE PWA &amp; META LLAMA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2083"/>
            <a:ext cx="9056218" cy="506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 AI Pipeline: Cloud Reasoning to Zero-Cost On-Device Edge.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30352" y="1828800"/>
            <a:ext cx="11064240" cy="4572000"/>
          </a:xfrm>
          <a:prstGeom prst="roundRect">
            <a:avLst>
              <a:gd name="adj" fmla="val 3404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113996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802209" y="3063705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OpenRouter Cloud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3096275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 Llama 3.3 70B  Instruct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3113996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Primary — Rich Swahili/Sheng dialogue,  adaptive customer personalities &amp; CBC shopping lists.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9776" y="4066289"/>
            <a:ext cx="10332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104429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802209" y="4046165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Ollama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01113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 Llama 3.2 (3B)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31380" y="4046165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On-device — fully offline, zero token cost for schools &amp; edge devices.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33272" y="5005426"/>
            <a:ext cx="10332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20" name="Text 18"/>
          <p:cNvSpPr txBox="1"/>
          <p:nvPr/>
        </p:nvSpPr>
        <p:spPr>
          <a:xfrm>
            <a:off x="914400" y="5130356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1828800" y="5105437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Failover &amp; Safety Net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520475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Montserrat" pitchFamily="34" charset="0"/>
              </a:rPr>
              <a:t>Gemini  Flash + Local Rules Engine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254240" y="5214366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Resilience- high-speed cloud failover buffer and deterministic customer queue preventing zero-drop sessions.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3C3095-3666-AA0B-765D-3EBD8497588D}"/>
              </a:ext>
            </a:extLst>
          </p:cNvPr>
          <p:cNvSpPr txBox="1"/>
          <p:nvPr/>
        </p:nvSpPr>
        <p:spPr>
          <a:xfrm>
            <a:off x="473659" y="1148997"/>
            <a:ext cx="88605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rPr lang="en-KE" sz="1600" dirty="0">
                <a:solidFill>
                  <a:srgbClr val="94A3B8"/>
                </a:solidFill>
                <a:latin typeface="Segoe UI"/>
              </a:rPr>
              <a:t>Cloud-grade Meta Llama 3.3 70B reasoning paired with edge caching for responsive dialogue and zero-drop offline gameplay.</a:t>
            </a:r>
            <a:endParaRPr lang="en-US" sz="16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8E0E9FA-A441-015C-7BE5-5066DF328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776" y="3057143"/>
            <a:ext cx="10339712" cy="12193"/>
          </a:xfrm>
          <a:prstGeom prst="rect">
            <a:avLst/>
          </a:prstGeom>
        </p:spPr>
      </p:pic>
      <p:sp>
        <p:nvSpPr>
          <p:cNvPr id="11" name="Text 4">
            <a:extLst>
              <a:ext uri="{FF2B5EF4-FFF2-40B4-BE49-F238E27FC236}">
                <a16:creationId xmlns:a16="http://schemas.microsoft.com/office/drawing/2014/main" id="{8879BAE5-F024-CD59-E681-F5799C31E367}"/>
              </a:ext>
            </a:extLst>
          </p:cNvPr>
          <p:cNvSpPr txBox="1"/>
          <p:nvPr/>
        </p:nvSpPr>
        <p:spPr>
          <a:xfrm>
            <a:off x="1828800" y="2021135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</a:rPr>
              <a:t>Provider/Layer</a:t>
            </a:r>
            <a:endParaRPr lang="en-US" sz="1500" dirty="0"/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8E7EB9B6-1C30-1B95-73E7-01D86F4C19CE}"/>
              </a:ext>
            </a:extLst>
          </p:cNvPr>
          <p:cNvSpPr txBox="1"/>
          <p:nvPr/>
        </p:nvSpPr>
        <p:spPr>
          <a:xfrm>
            <a:off x="916337" y="2047059"/>
            <a:ext cx="561333" cy="558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</a:t>
            </a:r>
            <a:endParaRPr lang="en-US" sz="15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11179C08-7ACA-2815-9361-CD4A660DED51}"/>
              </a:ext>
            </a:extLst>
          </p:cNvPr>
          <p:cNvSpPr txBox="1"/>
          <p:nvPr/>
        </p:nvSpPr>
        <p:spPr>
          <a:xfrm>
            <a:off x="4343400" y="2046969"/>
            <a:ext cx="15859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Model/Engine</a:t>
            </a:r>
            <a:endParaRPr lang="en-US" sz="1500" dirty="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1017ACCC-72B9-D93B-F3C7-63B3295D70C9}"/>
              </a:ext>
            </a:extLst>
          </p:cNvPr>
          <p:cNvSpPr txBox="1"/>
          <p:nvPr/>
        </p:nvSpPr>
        <p:spPr>
          <a:xfrm>
            <a:off x="7223760" y="2000795"/>
            <a:ext cx="17519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Purpose &amp; Value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CBC CURRICULUM ALIGNMENT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strands. One shopkeeper loop.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38404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Numbers &amp; Arithmetic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2057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Counting, addition, subtraction, bundle multiplication, fair division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100" dirty="0">
              <a:solidFill>
                <a:srgbClr val="64748B"/>
              </a:solidFill>
              <a:latin typeface="Montserrat" pitchFamily="34" charset="0"/>
            </a:endParaRPr>
          </a:p>
          <a:p>
            <a:pPr>
              <a:lnSpc>
                <a:spcPct val="130000"/>
              </a:lnSpc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  <a:latin typeface="Montserrat" panose="00000500000000000000" pitchFamily="2" charset="0"/>
              </a:rPr>
              <a:t>Verifying tendered cash and exact KES change.</a:t>
            </a:r>
          </a:p>
        </p:txBody>
      </p:sp>
      <p:sp>
        <p:nvSpPr>
          <p:cNvPr id="9" name="Shape 7"/>
          <p:cNvSpPr/>
          <p:nvPr/>
        </p:nvSpPr>
        <p:spPr>
          <a:xfrm>
            <a:off x="3410712" y="1965960"/>
            <a:ext cx="2606040" cy="38404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0" name="Text 8"/>
          <p:cNvSpPr txBox="1"/>
          <p:nvPr/>
        </p:nvSpPr>
        <p:spPr>
          <a:xfrm>
            <a:off x="3685032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2.0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685032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Financial Literacy &amp; Trade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3685032" y="3703320"/>
            <a:ext cx="2057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3" name="Text 11"/>
          <p:cNvSpPr txBox="1"/>
          <p:nvPr/>
        </p:nvSpPr>
        <p:spPr>
          <a:xfrm>
            <a:off x="3685032" y="384048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KES change calculation, percentage discounts, Daftari ya Deni credit tracking</a:t>
            </a:r>
            <a:b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r>
              <a:rPr lang="en-US" sz="1100" dirty="0">
                <a:solidFill>
                  <a:schemeClr val="bg2">
                    <a:lumMod val="50000"/>
                  </a:schemeClr>
                </a:solidFill>
                <a:latin typeface="Montserrat" panose="00000500000000000000" pitchFamily="2" charset="0"/>
              </a:rPr>
              <a:t>Balancing daily cash profit, loss, and debt.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1965960"/>
            <a:ext cx="2606040" cy="38404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5" name="Text 13"/>
          <p:cNvSpPr txBox="1"/>
          <p:nvPr/>
        </p:nvSpPr>
        <p:spPr>
          <a:xfrm>
            <a:off x="6547104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Language &amp; Communication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547104" y="3703320"/>
            <a:ext cx="2057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8" name="Text 16"/>
          <p:cNvSpPr txBox="1"/>
          <p:nvPr/>
        </p:nvSpPr>
        <p:spPr>
          <a:xfrm>
            <a:off x="6547104" y="384048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Bilingual shopping lists, vocabulary matching, reading comprehension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b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r>
              <a:rPr lang="en-US" sz="1100" dirty="0">
                <a:solidFill>
                  <a:schemeClr val="bg2">
                    <a:lumMod val="50000"/>
                  </a:schemeClr>
                </a:solidFill>
                <a:latin typeface="Montserrat" panose="00000500000000000000" pitchFamily="2" charset="0"/>
              </a:rPr>
              <a:t>Word-to-item visual vocabulary matching.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  <a:latin typeface="Montserrat" panose="00000500000000000000" pitchFamily="2" charset="0"/>
              </a:rPr>
              <a:t>Polite customer service dialogue and negotiation.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34856" y="1965960"/>
            <a:ext cx="2606040" cy="38404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20" name="Text 18"/>
          <p:cNvSpPr txBox="1"/>
          <p:nvPr/>
        </p:nvSpPr>
        <p:spPr>
          <a:xfrm>
            <a:off x="9409176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4.0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9409176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Hygiene &amp; Operations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9409176" y="3703320"/>
            <a:ext cx="2057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23" name="Text 21"/>
          <p:cNvSpPr txBox="1"/>
          <p:nvPr/>
        </p:nvSpPr>
        <p:spPr>
          <a:xfrm>
            <a:off x="9409176" y="384048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 storekeeping, cold storage rules, shelf inspection for expiry dates before selling  goods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</a:rPr>
              <a:t>Perishable dairy inspection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317C26-D667-D216-D8A9-447CFF4BF717}"/>
              </a:ext>
            </a:extLst>
          </p:cNvPr>
          <p:cNvSpPr txBox="1"/>
          <p:nvPr/>
        </p:nvSpPr>
        <p:spPr>
          <a:xfrm>
            <a:off x="468173" y="1394460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rPr sz="1600" dirty="0"/>
              <a:t>Designed specifically for Kenya's Ministry of Education CBC standards for Grades 1 through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TRACTION, PILOT &amp; TEAM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0099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Full-Stack Execution &amp; Initial Validation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19"/>
            <a:ext cx="5303520" cy="4360741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REAL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97480"/>
            <a:ext cx="4663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 working PWA prototype </a:t>
            </a:r>
            <a:endParaRPr lang="en-US" sz="1400" dirty="0"/>
          </a:p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Multi-Tier Llama Orchestration</a:t>
            </a:r>
            <a:endParaRPr lang="en-US" sz="1400" dirty="0"/>
          </a:p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CBC-aligned curriculum engine, Grades 1–4</a:t>
            </a:r>
            <a:endParaRPr lang="en-US" sz="1400" dirty="0"/>
          </a:p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In-Field Teacher Feedback</a:t>
            </a:r>
          </a:p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</a:rPr>
              <a:t>Automated quality Assurance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874520"/>
            <a:ext cx="5303520" cy="4360742"/>
          </a:xfrm>
          <a:prstGeom prst="roundRect">
            <a:avLst>
              <a:gd name="adj" fmla="val 304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8" name="Text 6"/>
          <p:cNvSpPr txBox="1"/>
          <p:nvPr/>
        </p:nvSpPr>
        <p:spPr>
          <a:xfrm>
            <a:off x="653796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MARTIN MWAI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487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Solo Technical Founder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971800"/>
            <a:ext cx="4663440" cy="822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Sole architect and engineer behind SmartDuka. Designed the end-to-end full-stack platform, multi-agent AI orchestrator, and CBC curriculum engine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37960" y="3872010"/>
            <a:ext cx="46634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2" name="Text 10"/>
          <p:cNvSpPr txBox="1"/>
          <p:nvPr/>
        </p:nvSpPr>
        <p:spPr>
          <a:xfrm>
            <a:off x="6537960" y="394926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MILESTONE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4330787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Student Formal pilot across primary schools in urban and peri-urban Kenya.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Quantitative impact data collection: Measuring arithmetic  fluency and financial gains.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technical collaborator, and someone closer to schools who can deepen teacher relationships beyond the one I have today.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86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39" y="656173"/>
            <a:ext cx="109891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 $5,000: Deploying to reach real learners.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5"/>
            <a:ext cx="7920111" cy="1147885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5" name="Text 3"/>
          <p:cNvSpPr txBox="1"/>
          <p:nvPr/>
        </p:nvSpPr>
        <p:spPr>
          <a:xfrm>
            <a:off x="868680" y="1568196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636775"/>
            <a:ext cx="5197450" cy="477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</a:rPr>
              <a:t>Llama Fine-Tuning ; Swahili/Sheng Datasets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906524"/>
            <a:ext cx="6646985" cy="72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Fine-tune Meta Llama 3.2 on primary-level East African retail and educational dialogues for higher cultural nuance and localized dialect accuracy.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08105"/>
            <a:ext cx="7920111" cy="1242529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9" name="Text 7"/>
          <p:cNvSpPr txBox="1"/>
          <p:nvPr/>
        </p:nvSpPr>
        <p:spPr>
          <a:xfrm>
            <a:off x="868680" y="2908106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054409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Edge &amp; PWD Infrastructure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405436"/>
            <a:ext cx="6528816" cy="7451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Deploy regional cloud caching automated sync pipelines and optimized edge-serving for low-bandwidth rural school environments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42658"/>
            <a:ext cx="7920111" cy="1271758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3" name="Text 11"/>
          <p:cNvSpPr txBox="1"/>
          <p:nvPr/>
        </p:nvSpPr>
        <p:spPr>
          <a:xfrm>
            <a:off x="868680" y="4562856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733702" y="4419365"/>
            <a:ext cx="45610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Classroom, Pilot Hardware &amp; Connectivity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733702" y="4997196"/>
            <a:ext cx="6177686" cy="46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SmartDuka in front of a real classroom for the first time, procure tablets across partner schools for offline testing and quantitative learning impact data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KE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5054803" cy="32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200" dirty="0">
                <a:solidFill>
                  <a:schemeClr val="bg1"/>
                </a:solidFill>
              </a:rPr>
              <a:t>https://martinmwai.vercel.app </a:t>
            </a:r>
            <a:r>
              <a:rPr lang="en-US" sz="115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  Martin Mwai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8163762" y="5943600"/>
            <a:ext cx="34491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i="1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make Africa a land of great minds.</a:t>
            </a:r>
            <a:endParaRPr lang="en-US" sz="11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3B1D2F0-FABF-1DF2-0719-0E09D065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369" y="1092427"/>
            <a:ext cx="2545511" cy="2043722"/>
          </a:xfrm>
          <a:prstGeom prst="rect">
            <a:avLst/>
          </a:prstGeom>
        </p:spPr>
      </p:pic>
      <p:sp>
        <p:nvSpPr>
          <p:cNvPr id="23" name="Rounded Rectangle 21">
            <a:extLst>
              <a:ext uri="{FF2B5EF4-FFF2-40B4-BE49-F238E27FC236}">
                <a16:creationId xmlns:a16="http://schemas.microsoft.com/office/drawing/2014/main" id="{7F8B8040-8C95-3700-7E08-7857F4E4698C}"/>
              </a:ext>
            </a:extLst>
          </p:cNvPr>
          <p:cNvSpPr/>
          <p:nvPr/>
        </p:nvSpPr>
        <p:spPr>
          <a:xfrm>
            <a:off x="8712403" y="3320797"/>
            <a:ext cx="2930957" cy="2043721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26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10B981"/>
                </a:solidFill>
                <a:latin typeface="Montserrat"/>
              </a:defRPr>
            </a:pPr>
            <a:r>
              <a:rPr sz="1600" dirty="0"/>
              <a:t>GET IN TOUCH</a:t>
            </a:r>
          </a:p>
          <a:p>
            <a:pPr algn="ctr">
              <a:spcBef>
                <a:spcPts val="300"/>
              </a:spcBef>
              <a:defRPr sz="1300" b="1">
                <a:solidFill>
                  <a:srgbClr val="FFFFFF"/>
                </a:solidFill>
                <a:latin typeface="Montserrat"/>
              </a:defRPr>
            </a:pPr>
            <a:r>
              <a:rPr dirty="0"/>
              <a:t>Martin Mwai</a:t>
            </a:r>
          </a:p>
          <a:p>
            <a:pPr algn="ctr">
              <a:defRPr sz="900">
                <a:solidFill>
                  <a:srgbClr val="94A3B8"/>
                </a:solidFill>
                <a:latin typeface="Segoe UI"/>
              </a:defRPr>
            </a:pPr>
            <a:r>
              <a:rPr dirty="0"/>
              <a:t>martinmwai.vercel.app</a:t>
            </a:r>
            <a:br>
              <a:rPr dirty="0"/>
            </a:br>
            <a:r>
              <a:rPr dirty="0"/>
              <a:t>GitHub: lemonhead-ai</a:t>
            </a:r>
            <a:br>
              <a:rPr dirty="0"/>
            </a:br>
            <a:r>
              <a:rPr dirty="0"/>
              <a:t>Nairobi, Kenya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1497</TotalTime>
  <Words>998</Words>
  <Application>Microsoft Office PowerPoint</Application>
  <PresentationFormat>Widescreen</PresentationFormat>
  <Paragraphs>139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Montserrat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martin mwai</cp:lastModifiedBy>
  <cp:revision>6</cp:revision>
  <dcterms:created xsi:type="dcterms:W3CDTF">2026-09-23T05:27:51Z</dcterms:created>
  <dcterms:modified xsi:type="dcterms:W3CDTF">2026-09-28T21:17:31Z</dcterms:modified>
</cp:coreProperties>
</file>