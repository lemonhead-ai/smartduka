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1" d="100"/>
          <a:sy n="61" d="100"/>
        </p:scale>
        <p:origin x="27" y="14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931920" y="640080"/>
            <a:ext cx="4297680" cy="411480"/>
          </a:xfrm>
          <a:prstGeom prst="roundRect">
            <a:avLst/>
          </a:prstGeom>
          <a:solidFill>
            <a:srgbClr val="101A2C"/>
          </a:solidFill>
          <a:ln w="19050">
            <a:solidFill>
              <a:srgbClr val="0081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60A5FA"/>
                </a:solidFill>
                <a:latin typeface="Montserrat"/>
              </a:defRPr>
            </a:pPr>
            <a:r>
              <a:t>✦  META AI ACADEMY KENYA · PITCHATHON 2026  ✦</a:t>
            </a:r>
          </a:p>
        </p:txBody>
      </p:sp>
      <p:pic>
        <p:nvPicPr>
          <p:cNvPr id="4" name="Picture 3" descr="logo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234440"/>
            <a:ext cx="3200400" cy="2560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3977639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FFFFFF"/>
                </a:solidFill>
                <a:latin typeface="Montserrat"/>
              </a:defRPr>
            </a:pPr>
            <a:r>
              <a:t>AI-powered, gamified financial literacy &amp; numeracy for early learners — engineered on Meta Llama for edge &amp; offline play.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5029200"/>
            <a:ext cx="2743200" cy="438912"/>
          </a:xfrm>
          <a:prstGeom prst="roundRect">
            <a:avLst/>
          </a:prstGeom>
          <a:solidFill>
            <a:srgbClr val="131E31"/>
          </a:solidFill>
          <a:ln w="15240">
            <a:solidFill>
              <a:srgbClr val="0081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081FB"/>
                </a:solidFill>
                <a:latin typeface="Montserrat"/>
              </a:defRPr>
            </a:pPr>
            <a:r>
              <a:t>META LLAMA 3.3 &amp; 3.2 CORE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09160" y="5029200"/>
            <a:ext cx="2743200" cy="438912"/>
          </a:xfrm>
          <a:prstGeom prst="roundRect">
            <a:avLst/>
          </a:prstGeom>
          <a:solidFill>
            <a:srgbClr val="131E31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0B981"/>
                </a:solidFill>
                <a:latin typeface="Montserrat"/>
              </a:defRPr>
            </a:pPr>
            <a:r>
              <a:t>KENYA CBC CURRICULUM ALIGNED (GRADES 1–4)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5029200"/>
            <a:ext cx="2743200" cy="438912"/>
          </a:xfrm>
          <a:prstGeom prst="roundRect">
            <a:avLst/>
          </a:prstGeom>
          <a:solidFill>
            <a:srgbClr val="131E31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59E0B"/>
                </a:solidFill>
                <a:latin typeface="Montserrat"/>
              </a:defRPr>
            </a:pPr>
            <a:r>
              <a:t>100% OFFLINE EDGE CAPABLE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897880"/>
            <a:ext cx="9418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94A3B8"/>
                </a:solidFill>
                <a:latin typeface="Segoe UI"/>
              </a:defRPr>
            </a:pPr>
            <a:r>
              <a:rPr dirty="0"/>
              <a:t>Martin Mwai · Solo Technical Founder · Nairobi, Kenya  |  </a:t>
            </a:r>
            <a:r>
              <a:rPr dirty="0" err="1"/>
              <a:t>martinmwai.vercel.app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Montserrat"/>
              </a:defRPr>
            </a:pPr>
            <a:r>
              <a:rPr dirty="0"/>
              <a:t>THE PROBLEM · GROUNDED REALITY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Montserrat"/>
              </a:defRPr>
            </a:pPr>
            <a:r>
              <a:t>Kids Fall Behind Before They Even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Segoe UI"/>
              </a:defRPr>
            </a:pPr>
            <a:r>
              <a:rPr dirty="0"/>
              <a:t>Foundational literacy and applied numeracy gaps compound quietly into permanent economic exclusion.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92640" y="411480"/>
            <a:ext cx="1737360" cy="3657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900" b="1">
                <a:solidFill>
                  <a:srgbClr val="059669"/>
                </a:solidFill>
                <a:latin typeface="Montserrat"/>
              </a:defRPr>
            </a:pPr>
            <a:r>
              <a:t>SMARTDUKA · META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Montserrat"/>
              </a:defRPr>
            </a:pPr>
            <a:r>
              <a:t>02 / 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83080"/>
            <a:ext cx="5120640" cy="4343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005840" y="2148840"/>
            <a:ext cx="109728" cy="34747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34440" y="2011680"/>
            <a:ext cx="43891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Montserrat"/>
              </a:defRPr>
            </a:pPr>
            <a:r>
              <a:rPr dirty="0"/>
              <a:t>A TRUE GROUNDED STORY</a:t>
            </a:r>
          </a:p>
          <a:p>
            <a:pPr>
              <a:spcBef>
                <a:spcPts val="1000"/>
              </a:spcBef>
              <a:defRPr sz="1400" i="1">
                <a:solidFill>
                  <a:srgbClr val="0F172A"/>
                </a:solidFill>
                <a:latin typeface="Montserrat"/>
              </a:defRPr>
            </a:pPr>
            <a:r>
              <a:rPr dirty="0"/>
              <a:t>“On my brother’s first day at a new school, the teacher asked where our parents were. He answered in Kamba instead of Swahili.</a:t>
            </a:r>
            <a:br>
              <a:rPr dirty="0"/>
            </a:br>
            <a:br>
              <a:rPr dirty="0"/>
            </a:br>
            <a:r>
              <a:rPr dirty="0"/>
              <a:t>In Kenya, language and conceptual gaps don't announce themselves — they become normal.”</a:t>
            </a:r>
          </a:p>
          <a:p>
            <a:pPr>
              <a:spcBef>
                <a:spcPts val="1200"/>
              </a:spcBef>
              <a:defRPr sz="1100" b="1">
                <a:solidFill>
                  <a:srgbClr val="64748B"/>
                </a:solidFill>
                <a:latin typeface="Segoe UI"/>
              </a:defRPr>
            </a:pPr>
            <a:r>
              <a:rPr dirty="0"/>
              <a:t>— Martin Mwai, Founder &amp; Lead Architect</a:t>
            </a:r>
          </a:p>
          <a:p>
            <a:pPr>
              <a:spcBef>
                <a:spcPts val="14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rPr dirty="0"/>
              <a:t>Abstract Western EdTech drills ignore this reality. Children fail not from lack of intelligence, but because existing tools assume high-bandwidth connectivity and foreign idioms.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783080"/>
            <a:ext cx="52120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355080" y="1947672"/>
            <a:ext cx="91440" cy="996696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80" y="1892808"/>
            <a:ext cx="4663440" cy="1106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EF4444"/>
                </a:solidFill>
                <a:latin typeface="Montserrat"/>
              </a:defRPr>
            </a:pPr>
            <a:r>
              <a:rPr dirty="0"/>
              <a:t>1 in 3</a:t>
            </a:r>
          </a:p>
          <a:p>
            <a:pPr>
              <a:defRPr sz="1150" b="1">
                <a:solidFill>
                  <a:srgbClr val="0F172A"/>
                </a:solidFill>
                <a:latin typeface="Montserrat"/>
              </a:defRPr>
            </a:pPr>
            <a:r>
              <a:rPr dirty="0"/>
              <a:t>Primary learners in East Africa achieve basic arithmetic by Grade 3</a:t>
            </a:r>
          </a:p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rPr dirty="0"/>
              <a:t>Over 90% of children in Sub-Saharan Africa cannot read or perform basic arithmetic by age 10.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291840"/>
            <a:ext cx="52120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355080" y="3456432"/>
            <a:ext cx="91440" cy="996696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83680" y="3401568"/>
            <a:ext cx="4663440" cy="1106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59E0B"/>
                </a:solidFill>
                <a:latin typeface="Montserrat"/>
              </a:defRPr>
            </a:pPr>
            <a:r>
              <a:rPr dirty="0"/>
              <a:t>84%</a:t>
            </a:r>
          </a:p>
          <a:p>
            <a:pPr>
              <a:defRPr sz="1150" b="1">
                <a:solidFill>
                  <a:srgbClr val="0F172A"/>
                </a:solidFill>
                <a:latin typeface="Montserrat"/>
              </a:defRPr>
            </a:pPr>
            <a:r>
              <a:rPr dirty="0"/>
              <a:t>Of Kenya's workforce operates within the informal economy</a:t>
            </a:r>
          </a:p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rPr dirty="0"/>
              <a:t>Applied mental math, trade negotiation, and trust are fundamental daily survival skills.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4800600"/>
            <a:ext cx="52120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355080" y="4965192"/>
            <a:ext cx="91440" cy="996696"/>
          </a:xfrm>
          <a:prstGeom prst="roundRect">
            <a:avLst/>
          </a:prstGeom>
          <a:solidFill>
            <a:srgbClr val="0081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3680" y="4910328"/>
            <a:ext cx="4663440" cy="1106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81FB"/>
                </a:solidFill>
                <a:latin typeface="Montserrat"/>
              </a:defRPr>
            </a:pPr>
            <a:r>
              <a:rPr dirty="0"/>
              <a:t>78.3% Offline</a:t>
            </a:r>
          </a:p>
          <a:p>
            <a:pPr>
              <a:defRPr sz="1150" b="1">
                <a:solidFill>
                  <a:srgbClr val="0F172A"/>
                </a:solidFill>
                <a:latin typeface="Montserrat"/>
              </a:defRPr>
            </a:pPr>
            <a:r>
              <a:rPr dirty="0"/>
              <a:t>With only 21.7% rural internet penetration, cloud EdTech fails</a:t>
            </a:r>
          </a:p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rPr dirty="0"/>
              <a:t>Mainstream solutions require high-speed continuous data, locking out millions of rural students.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Montserrat"/>
              </a:defRPr>
            </a:pPr>
            <a:r>
              <a:t>CORE PRODUCT MECHANIC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Montserrat"/>
              </a:defRPr>
            </a:pPr>
            <a:r>
              <a:t>The Duka Loop: Turning Everyday Commerce into a CBC Learning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1435608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Segoe UI"/>
              </a:defRPr>
            </a:pPr>
            <a:r>
              <a:rPr dirty="0"/>
              <a:t>A </a:t>
            </a:r>
            <a:r>
              <a:rPr dirty="0" err="1"/>
              <a:t>duka</a:t>
            </a:r>
            <a:r>
              <a:rPr dirty="0"/>
              <a:t> (corner shop) is East Africa's most familiar economic hub. SmartDuka turns it into an adaptive, gamified learning loop.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92640" y="411480"/>
            <a:ext cx="1737360" cy="3657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900" b="1">
                <a:solidFill>
                  <a:srgbClr val="059669"/>
                </a:solidFill>
                <a:latin typeface="Montserrat"/>
              </a:defRPr>
            </a:pPr>
            <a:r>
              <a:t>SMARTDUKA · META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Montserrat"/>
              </a:defRPr>
            </a:pPr>
            <a:r>
              <a:t>03 / 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83080"/>
            <a:ext cx="33375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960120" y="2011680"/>
            <a:ext cx="594360" cy="594360"/>
          </a:xfrm>
          <a:prstGeom prst="roundRect">
            <a:avLst/>
          </a:prstGeom>
          <a:solidFill>
            <a:srgbClr val="0081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Montserrat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011680"/>
            <a:ext cx="2240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81FB"/>
                </a:solidFill>
                <a:latin typeface="Montserrat"/>
              </a:defRPr>
            </a:pPr>
            <a:r>
              <a:t>INTERACT &amp; CONVERSE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258568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Montserrat"/>
              </a:defRPr>
            </a:pPr>
            <a:r>
              <a:rPr dirty="0"/>
              <a:t>Real-Time NPC Dialogue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834640"/>
            <a:ext cx="2880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dirty="0"/>
              <a:t>•  Autonomous customer NPCs speak Sheng, Swahili, and English.</a:t>
            </a:r>
          </a:p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dirty="0"/>
              <a:t>•  Dynamic stock negotiation: Customers adapt when goods run low.</a:t>
            </a:r>
          </a:p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dirty="0"/>
              <a:t>•  Reinforces CBC Strand 3.0 (Language Comprehension &amp; Vocabulary).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42232" y="3520440"/>
            <a:ext cx="20116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59669"/>
                </a:solidFill>
                <a:latin typeface="Montserrat"/>
              </a:defRPr>
            </a:pPr>
            <a:r>
              <a:t>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16552" y="1783080"/>
            <a:ext cx="33375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645152" y="2011680"/>
            <a:ext cx="594360" cy="59436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Montserrat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76672" y="2011680"/>
            <a:ext cx="2240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Montserrat"/>
              </a:defRPr>
            </a:pPr>
            <a:r>
              <a:rPr dirty="0"/>
              <a:t>CALCULATE &amp; TRANSACT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76672" y="2258568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Montserrat"/>
              </a:defRPr>
            </a:pPr>
            <a:r>
              <a:rPr dirty="0"/>
              <a:t>Applied Mental Arithmetic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45152" y="2834640"/>
            <a:ext cx="2880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dirty="0"/>
              <a:t>•  Kenyan Shilling (KES) currency calculations with coins &amp; notes.</a:t>
            </a:r>
          </a:p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dirty="0"/>
              <a:t>•  Fast mental math under natural shop pressure without timed panic.</a:t>
            </a:r>
          </a:p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rPr dirty="0"/>
              <a:t>•  Safe-fail pedagogy: Milo mentor gives Socratic hints on repeat error.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27264" y="3520440"/>
            <a:ext cx="20116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59669"/>
                </a:solidFill>
                <a:latin typeface="Montserrat"/>
              </a:defRPr>
            </a:pPr>
            <a:r>
              <a:t>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01584" y="1783080"/>
            <a:ext cx="33375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330184" y="2011680"/>
            <a:ext cx="594360" cy="5943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Montserrat"/>
              </a:defRPr>
            </a:pPr>
            <a: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61704" y="2011680"/>
            <a:ext cx="2240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Montserrat"/>
              </a:defRPr>
            </a:pPr>
            <a:r>
              <a:t>MANAGE THE LEDGER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61704" y="2258568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Montserrat"/>
              </a:defRPr>
            </a:pPr>
            <a:r>
              <a:rPr dirty="0"/>
              <a:t>Daftari ya Deni (Credit Ledger)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0184" y="2834640"/>
            <a:ext cx="2880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t>•  Evaluate customer trust, verify repayment dates, and issue credit.</a:t>
            </a:r>
          </a:p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t>•  Balances profit, loss, and community accountability.</a:t>
            </a:r>
          </a:p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t>•  Introduces financial literacy years before a formal bank account.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943600"/>
            <a:ext cx="10728655" cy="41148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59669"/>
                </a:solidFill>
                <a:latin typeface="Montserrat"/>
              </a:defRPr>
            </a:pPr>
            <a:r>
              <a:t>↻  CONTINUOUS CYCLIC LOOP: Every transaction reinforces CBC Numbers (Strand 1.0) + Financial Trade (Strand 2.0) + Language (Strand 3.0)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Montserrat"/>
              </a:defRPr>
            </a:pPr>
            <a:r>
              <a:t>PRODUCT &amp; AGENTS IN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Montserrat"/>
              </a:defRPr>
            </a:pPr>
            <a:r>
              <a:t>Dual-Engine Architecture: Conversational NPCs &amp; Financial Logic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Segoe UI"/>
              </a:defRPr>
            </a:pPr>
            <a:r>
              <a:t>Live gameplay UI showing multi-lingual conversational AI dialogue and the real-world Daftari ya Deni credit ledger.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92640" y="411480"/>
            <a:ext cx="1737360" cy="3657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900" b="1">
                <a:solidFill>
                  <a:srgbClr val="059669"/>
                </a:solidFill>
                <a:latin typeface="Montserrat"/>
              </a:defRPr>
            </a:pPr>
            <a:r>
              <a:t>SMARTDUKA · META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Montserrat"/>
              </a:defRPr>
            </a:pPr>
            <a:r>
              <a:t>04 / 08</a:t>
            </a:r>
          </a:p>
        </p:txBody>
      </p:sp>
      <p:pic>
        <p:nvPicPr>
          <p:cNvPr id="8" name="Picture 7" descr="mockup_conversational_ag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91640"/>
            <a:ext cx="2304288" cy="3931920"/>
          </a:xfrm>
          <a:prstGeom prst="rect">
            <a:avLst/>
          </a:prstGeom>
        </p:spPr>
      </p:pic>
      <p:pic>
        <p:nvPicPr>
          <p:cNvPr id="9" name="Picture 8" descr="mockup_daftari_den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1691640"/>
            <a:ext cx="2304288" cy="39319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806440" y="1691640"/>
            <a:ext cx="5623560" cy="12984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5916168" y="1801368"/>
            <a:ext cx="73152" cy="1078992"/>
          </a:xfrm>
          <a:prstGeom prst="roundRect">
            <a:avLst/>
          </a:prstGeom>
          <a:solidFill>
            <a:srgbClr val="0081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80760" y="1746504"/>
            <a:ext cx="5257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081FB"/>
                </a:solidFill>
                <a:latin typeface="Montserrat"/>
              </a:defRPr>
            </a:pPr>
            <a:r>
              <a:t>MOCKUP A · CONVERSATIONAL AGENT</a:t>
            </a:r>
          </a:p>
          <a:p>
            <a:pPr>
              <a:defRPr sz="1150" b="1">
                <a:solidFill>
                  <a:srgbClr val="0F172A"/>
                </a:solidFill>
                <a:latin typeface="Montserrat"/>
              </a:defRPr>
            </a:pPr>
            <a:r>
              <a:t>Dynamic Negotiation &amp; Local Dialect</a:t>
            </a:r>
          </a:p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• Customer NPC: 'Nipatie unga ya ugali na sabuni, lakini nina 150 pekee...'</a:t>
            </a:r>
          </a:p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• Calculates total (KES 160) vs cash tendered (KES 150) under real-world trade pressure.</a:t>
            </a:r>
          </a:p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• Local dialect adaptation: Seamless switching across Sheng, Swahili, and English.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06440" y="3127248"/>
            <a:ext cx="5623560" cy="12984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916168" y="3236976"/>
            <a:ext cx="73152" cy="1078992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080760" y="3182112"/>
            <a:ext cx="5257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59E0B"/>
                </a:solidFill>
                <a:latin typeface="Montserrat"/>
              </a:defRPr>
            </a:pPr>
            <a:r>
              <a:t>MOCKUP B · DAFTARI YA DENI</a:t>
            </a:r>
          </a:p>
          <a:p>
            <a:pPr>
              <a:defRPr sz="1150" b="1">
                <a:solidFill>
                  <a:srgbClr val="0F172A"/>
                </a:solidFill>
                <a:latin typeface="Montserrat"/>
              </a:defRPr>
            </a:pPr>
            <a:r>
              <a:t>Community Micro-Credit &amp; Trust Ledger</a:t>
            </a:r>
          </a:p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• Visual credit book: Tracks customer balances, credit limits, and repayment fidelity.</a:t>
            </a:r>
          </a:p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• Children evaluate credit risk: Approving credit within safe limits while rejecting defaults.</a:t>
            </a:r>
          </a:p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• Directly addresses Kenya's 84% informal economy commerce dynamics.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06440" y="4562856"/>
            <a:ext cx="562356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916168" y="4672584"/>
            <a:ext cx="73152" cy="877824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080760" y="4617720"/>
            <a:ext cx="525780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59669"/>
                </a:solidFill>
                <a:latin typeface="Montserrat"/>
              </a:defRPr>
            </a:pPr>
            <a:r>
              <a:t>SAFE-FAIL PEDAGOGICAL ENGINE</a:t>
            </a:r>
          </a:p>
          <a:p>
            <a:pPr>
              <a:defRPr sz="1150" b="1">
                <a:solidFill>
                  <a:srgbClr val="0F172A"/>
                </a:solidFill>
                <a:latin typeface="Montserrat"/>
              </a:defRPr>
            </a:pPr>
            <a:r>
              <a:t>Milo Mascot Socratic Tutoring</a:t>
            </a:r>
          </a:p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• Milo watches quietly and triggers only when an arithmetic error is repeated.</a:t>
            </a:r>
          </a:p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• Delivers gentle, non-punitive guidance without breaking the child's flow state.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779008"/>
            <a:ext cx="4818888" cy="5029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>
                <a:solidFill>
                  <a:srgbClr val="4338CA"/>
                </a:solidFill>
                <a:latin typeface="Segoe UI"/>
              </a:defRPr>
            </a:pPr>
            <a:r>
              <a:t>⚡ Real-Time Inventory Substitution: Customers propose swaps when items run low.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Montserrat"/>
              </a:defRPr>
            </a:pPr>
            <a:r>
              <a:t>HYBRID AI ARCHITECTURE · META LLAMA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ontserrat"/>
              </a:defRPr>
            </a:pPr>
            <a:r>
              <a:t>Hybrid AI Pipeline: Cloud Reasoning to Zero-Cost On-Device Edge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Engineered natively on the Meta Llama model family to guarantee sub-second latency and 100% offline rural accessibility.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92640" y="411480"/>
            <a:ext cx="1737360" cy="365760"/>
          </a:xfrm>
          <a:prstGeom prst="roundRect">
            <a:avLst/>
          </a:prstGeom>
          <a:solidFill>
            <a:srgbClr val="1A263B"/>
          </a:solidFill>
          <a:ln w="12700">
            <a:solidFill>
              <a:srgbClr val="26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900" b="1">
                <a:solidFill>
                  <a:srgbClr val="10B981"/>
                </a:solidFill>
                <a:latin typeface="Montserrat"/>
              </a:defRPr>
            </a:pPr>
            <a:r>
              <a:t>SMARTDUKA · META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Montserrat"/>
              </a:defRPr>
            </a:pPr>
            <a:r>
              <a:t>05 / 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83080"/>
            <a:ext cx="10728655" cy="1234440"/>
          </a:xfrm>
          <a:prstGeom prst="roundRect">
            <a:avLst/>
          </a:prstGeom>
          <a:solidFill>
            <a:srgbClr val="131E31"/>
          </a:solidFill>
          <a:ln w="19050">
            <a:solidFill>
              <a:srgbClr val="0081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005840" y="1965960"/>
            <a:ext cx="2286000" cy="320040"/>
          </a:xfrm>
          <a:prstGeom prst="roundRect">
            <a:avLst/>
          </a:prstGeom>
          <a:solidFill>
            <a:srgbClr val="0081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A0F1D"/>
                </a:solidFill>
                <a:latin typeface="Montserrat"/>
              </a:defRPr>
            </a:pPr>
            <a:r>
              <a:t>TIER 1 · PRIMARY CLOUD REASONING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3172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Montserrat"/>
              </a:defRPr>
            </a:pPr>
            <a:r>
              <a:t>Meta Llama 3.3 70B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OpenRouter / Regional Cloud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1892808"/>
            <a:ext cx="7589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defRPr sz="1050">
                <a:solidFill>
                  <a:srgbClr val="F1F5F9"/>
                </a:solidFill>
                <a:latin typeface="Segoe UI"/>
              </a:defRPr>
            </a:pPr>
            <a:r>
              <a:t>•  High-reasoning multi-turn conversational roleplay.</a:t>
            </a:r>
          </a:p>
          <a:p>
            <a:pPr>
              <a:spcBef>
                <a:spcPts val="300"/>
              </a:spcBef>
              <a:defRPr sz="1050">
                <a:solidFill>
                  <a:srgbClr val="F1F5F9"/>
                </a:solidFill>
                <a:latin typeface="Segoe UI"/>
              </a:defRPr>
            </a:pPr>
            <a:r>
              <a:t>•  Nuanced Sheng, Swahili, and English colloquial speech comprehension.</a:t>
            </a:r>
          </a:p>
          <a:p>
            <a:pPr>
              <a:spcBef>
                <a:spcPts val="300"/>
              </a:spcBef>
              <a:defRPr sz="1050">
                <a:solidFill>
                  <a:srgbClr val="F1F5F9"/>
                </a:solidFill>
                <a:latin typeface="Segoe UI"/>
              </a:defRPr>
            </a:pPr>
            <a:r>
              <a:t>•  Dynamic inventory negotiation and adaptive pedagogical difficulty.</a:t>
            </a:r>
          </a:p>
          <a:p>
            <a:pPr>
              <a:spcBef>
                <a:spcPts val="300"/>
              </a:spcBef>
              <a:defRPr sz="1050">
                <a:solidFill>
                  <a:srgbClr val="F1F5F9"/>
                </a:solidFill>
                <a:latin typeface="Segoe UI"/>
              </a:defRPr>
            </a:pPr>
            <a:r>
              <a:t>•  Structured JSON function calling for game state mutation.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200400"/>
            <a:ext cx="10728655" cy="1234440"/>
          </a:xfrm>
          <a:prstGeom prst="roundRect">
            <a:avLst/>
          </a:prstGeom>
          <a:solidFill>
            <a:srgbClr val="131E31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005840" y="3383280"/>
            <a:ext cx="2286000" cy="3200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A0F1D"/>
                </a:solidFill>
                <a:latin typeface="Montserrat"/>
              </a:defRPr>
            </a:pPr>
            <a:r>
              <a:t>TIER 2 · ULTRA-FAST LATENCY FAILOVER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7490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Montserrat"/>
              </a:defRPr>
            </a:pPr>
            <a:r>
              <a:t>Groq LPUs + Llama 3.3 70B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Hardware-Accelerated Inference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3310128"/>
            <a:ext cx="7589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defRPr sz="1050">
                <a:solidFill>
                  <a:srgbClr val="F1F5F9"/>
                </a:solidFill>
                <a:latin typeface="Segoe UI"/>
              </a:defRPr>
            </a:pPr>
            <a:r>
              <a:t>•  Sub-second (&lt;1s) conversational response times during mobile network jitter.</a:t>
            </a:r>
          </a:p>
          <a:p>
            <a:pPr>
              <a:spcBef>
                <a:spcPts val="300"/>
              </a:spcBef>
              <a:defRPr sz="1050">
                <a:solidFill>
                  <a:srgbClr val="F1F5F9"/>
                </a:solidFill>
                <a:latin typeface="Segoe UI"/>
              </a:defRPr>
            </a:pPr>
            <a:r>
              <a:t>•  Prevents game freeze or dialogue stutter for high engagement.</a:t>
            </a:r>
          </a:p>
          <a:p>
            <a:pPr>
              <a:spcBef>
                <a:spcPts val="300"/>
              </a:spcBef>
              <a:defRPr sz="1050">
                <a:solidFill>
                  <a:srgbClr val="F1F5F9"/>
                </a:solidFill>
                <a:latin typeface="Segoe UI"/>
              </a:defRPr>
            </a:pPr>
            <a:r>
              <a:t>•  Guarantees seamless flow state for early primary learners.</a:t>
            </a:r>
          </a:p>
          <a:p>
            <a:pPr>
              <a:spcBef>
                <a:spcPts val="300"/>
              </a:spcBef>
              <a:defRPr sz="1050">
                <a:solidFill>
                  <a:srgbClr val="F1F5F9"/>
                </a:solidFill>
                <a:latin typeface="Segoe UI"/>
              </a:defRPr>
            </a:pPr>
            <a:r>
              <a:t>•  Automated fallback trigger on API latency &gt; 2.5 seconds.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617720"/>
            <a:ext cx="10728655" cy="1234440"/>
          </a:xfrm>
          <a:prstGeom prst="roundRect">
            <a:avLst/>
          </a:prstGeom>
          <a:solidFill>
            <a:srgbClr val="131E31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005840" y="4800600"/>
            <a:ext cx="2286000" cy="3200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A0F1D"/>
                </a:solidFill>
                <a:latin typeface="Montserrat"/>
              </a:defRPr>
            </a:pPr>
            <a:r>
              <a:t>TIER 3 · ZERO-DATA ON-DEVICE EDGE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16636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Montserrat"/>
              </a:defRPr>
            </a:pPr>
            <a:r>
              <a:t>Quantized Meta Llama 3.2 (1B / 3B)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Ollama / WebLLM Edge Runtime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4727448"/>
            <a:ext cx="7589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defRPr sz="1050">
                <a:solidFill>
                  <a:srgbClr val="F1F5F9"/>
                </a:solidFill>
                <a:latin typeface="Segoe UI"/>
              </a:defRPr>
            </a:pPr>
            <a:r>
              <a:t>•  100% offline gameplay for rural schools with zero internet connection.</a:t>
            </a:r>
          </a:p>
          <a:p>
            <a:pPr>
              <a:spcBef>
                <a:spcPts val="300"/>
              </a:spcBef>
              <a:defRPr sz="1050">
                <a:solidFill>
                  <a:srgbClr val="F1F5F9"/>
                </a:solidFill>
                <a:latin typeface="Segoe UI"/>
              </a:defRPr>
            </a:pPr>
            <a:r>
              <a:t>•  Zero cellular data charges incurred for the learner or school.</a:t>
            </a:r>
          </a:p>
          <a:p>
            <a:pPr>
              <a:spcBef>
                <a:spcPts val="300"/>
              </a:spcBef>
              <a:defRPr sz="1050">
                <a:solidFill>
                  <a:srgbClr val="F1F5F9"/>
                </a:solidFill>
                <a:latin typeface="Segoe UI"/>
              </a:defRPr>
            </a:pPr>
            <a:r>
              <a:t>•  Runs on low-cost entry-level Android tablets (2GB–4GB RAM).</a:t>
            </a:r>
          </a:p>
          <a:p>
            <a:pPr>
              <a:spcBef>
                <a:spcPts val="300"/>
              </a:spcBef>
              <a:defRPr sz="1050">
                <a:solidFill>
                  <a:srgbClr val="F1F5F9"/>
                </a:solidFill>
                <a:latin typeface="Segoe UI"/>
              </a:defRPr>
            </a:pPr>
            <a:r>
              <a:t>•  IndexedDB local persistence syncing progress when connectivity resumes.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943600"/>
            <a:ext cx="10728655" cy="411480"/>
          </a:xfrm>
          <a:prstGeom prst="roundRect">
            <a:avLst/>
          </a:prstGeom>
          <a:solidFill>
            <a:srgbClr val="101A2C"/>
          </a:solidFill>
          <a:ln w="12700">
            <a:solidFill>
              <a:srgbClr val="0081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93C5FD"/>
                </a:solidFill>
                <a:latin typeface="Montserrat"/>
              </a:defRPr>
            </a:pPr>
            <a:r>
              <a:t>✦  PURE META OPEN-SOURCE SHOWCASE: Engineered exclusively around Meta Llama models with zero proprietary lock-in  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Montserrat"/>
              </a:defRPr>
            </a:pPr>
            <a:r>
              <a:t>INSTITUTIONAL LEGITIMACY · CBC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Montserrat"/>
              </a:defRPr>
            </a:pPr>
            <a:r>
              <a:t>Direct Competency-Based Curriculum (CBC)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Segoe UI"/>
              </a:defRPr>
            </a:pPr>
            <a:r>
              <a:t>Designed specifically for Kenya's Ministry of Education CBC standards for Grades 1 through 4.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92640" y="411480"/>
            <a:ext cx="1737360" cy="3657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900" b="1">
                <a:solidFill>
                  <a:srgbClr val="059669"/>
                </a:solidFill>
                <a:latin typeface="Montserrat"/>
              </a:defRPr>
            </a:pPr>
            <a:r>
              <a:t>SMARTDUKA · META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Montserrat"/>
              </a:defRPr>
            </a:pPr>
            <a:r>
              <a:t>06 / 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83080"/>
            <a:ext cx="251460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914400" y="1965960"/>
            <a:ext cx="2148840" cy="36576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ontserrat"/>
              </a:defRPr>
            </a:pPr>
            <a:r>
              <a:t>STRAND 1.0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404872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Montserrat"/>
              </a:defRPr>
            </a:pPr>
            <a:r>
              <a:t>NUMBERS &amp; ARITHMETIC</a:t>
            </a:r>
          </a:p>
          <a:p>
            <a:pPr>
              <a:defRPr sz="950" b="1">
                <a:solidFill>
                  <a:srgbClr val="059669"/>
                </a:solidFill>
                <a:latin typeface="Segoe UI"/>
              </a:defRPr>
            </a:pPr>
            <a:r>
              <a:t>Grades 1–3 Alignment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063240"/>
            <a:ext cx="2240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• Mental addition &amp; subtraction under shop pressure.</a:t>
            </a:r>
          </a:p>
          <a:p>
            <a:pPr>
              <a:spcBef>
                <a:spcPts val="6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• Bundle multiplication (e.g. egg trays, matchbox packets).</a:t>
            </a:r>
          </a:p>
          <a:p>
            <a:pPr>
              <a:spcBef>
                <a:spcPts val="6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• Fair division of bulk inventory items.</a:t>
            </a:r>
          </a:p>
          <a:p>
            <a:pPr>
              <a:spcBef>
                <a:spcPts val="6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• Verifying tendered cash and exact KES change.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65576" y="1783080"/>
            <a:ext cx="251460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648456" y="1965960"/>
            <a:ext cx="2148840" cy="3657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ontserrat"/>
              </a:defRPr>
            </a:pPr>
            <a:r>
              <a:t>STRAND 2.0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2736" y="2404872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Montserrat"/>
              </a:defRPr>
            </a:pPr>
            <a:r>
              <a:t>FINANCIAL LITERACY &amp; TRADE</a:t>
            </a:r>
          </a:p>
          <a:p>
            <a:pPr>
              <a:defRPr sz="950" b="1">
                <a:solidFill>
                  <a:srgbClr val="F59E0B"/>
                </a:solidFill>
                <a:latin typeface="Segoe UI"/>
              </a:defRPr>
            </a:pPr>
            <a:r>
              <a:t>Grades 2–4 Alignment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2736" y="3063240"/>
            <a:ext cx="2240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• Kenyan Shilling (KES) currency &amp; coin recognition.</a:t>
            </a:r>
          </a:p>
          <a:p>
            <a:pPr>
              <a:spcBef>
                <a:spcPts val="6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• Percentage discounts and promotional pricing.</a:t>
            </a:r>
          </a:p>
          <a:p>
            <a:pPr>
              <a:spcBef>
                <a:spcPts val="6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• Daftari ya Deni: Credit risk &amp; repayment tracking.</a:t>
            </a:r>
          </a:p>
          <a:p>
            <a:pPr>
              <a:spcBef>
                <a:spcPts val="6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• Balancing daily cash profit, loss, and debt.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2" y="1783080"/>
            <a:ext cx="251460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382512" y="1965960"/>
            <a:ext cx="2148840" cy="365760"/>
          </a:xfrm>
          <a:prstGeom prst="roundRect">
            <a:avLst/>
          </a:prstGeom>
          <a:solidFill>
            <a:srgbClr val="0081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ontserrat"/>
              </a:defRPr>
            </a:pPr>
            <a:r>
              <a:t>STRAND 3.0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6792" y="2404872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Montserrat"/>
              </a:defRPr>
            </a:pPr>
            <a:r>
              <a:t>LANGUAGE &amp; COMMUNICATION</a:t>
            </a:r>
          </a:p>
          <a:p>
            <a:pPr>
              <a:defRPr sz="950" b="1">
                <a:solidFill>
                  <a:srgbClr val="0081FB"/>
                </a:solidFill>
                <a:latin typeface="Segoe UI"/>
              </a:defRPr>
            </a:pPr>
            <a:r>
              <a:t>Grades 1–4 Alignment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6792" y="3063240"/>
            <a:ext cx="2240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• Trilingual fluency: Sheng, Swahili, and English.</a:t>
            </a:r>
          </a:p>
          <a:p>
            <a:pPr>
              <a:spcBef>
                <a:spcPts val="6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• Contextual reading comprehension for shopping lists.</a:t>
            </a:r>
          </a:p>
          <a:p>
            <a:pPr>
              <a:spcBef>
                <a:spcPts val="6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• Word-to-item visual vocabulary matching.</a:t>
            </a:r>
          </a:p>
          <a:p>
            <a:pPr>
              <a:spcBef>
                <a:spcPts val="6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• Polite customer service dialogue and negotiation.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33688" y="1783080"/>
            <a:ext cx="251460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9116568" y="1965960"/>
            <a:ext cx="2148840" cy="365760"/>
          </a:xfrm>
          <a:prstGeom prst="round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ontserrat"/>
              </a:defRPr>
            </a:pPr>
            <a:r>
              <a:t>STRAND 4.0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0848" y="2404872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Montserrat"/>
              </a:defRPr>
            </a:pPr>
            <a:r>
              <a:t>HYGIENE &amp; OPERATIONS</a:t>
            </a:r>
          </a:p>
          <a:p>
            <a:pPr>
              <a:defRPr sz="950" b="1">
                <a:solidFill>
                  <a:srgbClr val="9333EA"/>
                </a:solidFill>
                <a:latin typeface="Segoe UI"/>
              </a:defRPr>
            </a:pPr>
            <a:r>
              <a:t>Grades 1–3 Alignment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0848" y="3063240"/>
            <a:ext cx="2240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• Safe food handling, hygiene, and store cleanliness.</a:t>
            </a:r>
          </a:p>
          <a:p>
            <a:pPr>
              <a:spcBef>
                <a:spcPts val="6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• Perishable dairy inspection (maziwa mala, fresh milk).</a:t>
            </a:r>
          </a:p>
          <a:p>
            <a:pPr>
              <a:spcBef>
                <a:spcPts val="6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• Cold storage refrigeration rules.</a:t>
            </a:r>
          </a:p>
          <a:p>
            <a:pPr>
              <a:spcBef>
                <a:spcPts val="6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• Inspecting expiration dates before selling goods.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943600"/>
            <a:ext cx="10728655" cy="4114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59669"/>
                </a:solidFill>
                <a:latin typeface="Montserrat"/>
              </a:defRPr>
            </a:pPr>
            <a:r>
              <a:t>✓  Structured for seamless accreditation with the Kenya Institute of Curriculum Development (KICD)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Montserrat"/>
              </a:defRPr>
            </a:pPr>
            <a:r>
              <a:t>EXECUTION VELOCITY &amp;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Montserrat"/>
              </a:defRPr>
            </a:pPr>
            <a:r>
              <a:t>Rapid Full-Stack Execution &amp; Initial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Segoe UI"/>
              </a:defRPr>
            </a:pPr>
            <a:r>
              <a:t>From zero to a fully functional, curriculum-aligned PWA powered by Meta Llama in weeks.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92640" y="411480"/>
            <a:ext cx="1737360" cy="3657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900" b="1">
                <a:solidFill>
                  <a:srgbClr val="059669"/>
                </a:solidFill>
                <a:latin typeface="Montserrat"/>
              </a:defRPr>
            </a:pPr>
            <a:r>
              <a:t>SMARTDUKA · META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Montserrat"/>
              </a:defRPr>
            </a:pPr>
            <a:r>
              <a:t>07 / 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83080"/>
            <a:ext cx="5120640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005840" y="2011680"/>
            <a:ext cx="2926080" cy="3657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59669"/>
                </a:solidFill>
                <a:latin typeface="Montserrat"/>
              </a:defRPr>
            </a:pPr>
            <a:r>
              <a:t>PROOF OF EXECUTION · WHAT'S REAL 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51460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150" b="1">
                <a:solidFill>
                  <a:srgbClr val="0F172A"/>
                </a:solidFill>
                <a:latin typeface="Montserrat"/>
              </a:defRPr>
            </a:pPr>
            <a:r>
              <a:t>✓  Fully Working PWA Prototype</a:t>
            </a:r>
          </a:p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     Next.js 16 + FastAPI engine with interactive shelves, counter, basket, and Sauti audio TTS.</a:t>
            </a:r>
          </a:p>
          <a:p>
            <a:pPr>
              <a:spcBef>
                <a:spcPts val="800"/>
              </a:spcBef>
              <a:defRPr sz="1150" b="1">
                <a:solidFill>
                  <a:srgbClr val="0F172A"/>
                </a:solidFill>
                <a:latin typeface="Montserrat"/>
              </a:defRPr>
            </a:pPr>
            <a:r>
              <a:t>✓  Multi-Tier Llama Orchestration</a:t>
            </a:r>
          </a:p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     Live integration of Llama 3.3 70B &amp; local Llama 3.2 with automated failovers.</a:t>
            </a:r>
          </a:p>
          <a:p>
            <a:pPr>
              <a:spcBef>
                <a:spcPts val="800"/>
              </a:spcBef>
              <a:defRPr sz="1150" b="1">
                <a:solidFill>
                  <a:srgbClr val="0F172A"/>
                </a:solidFill>
                <a:latin typeface="Montserrat"/>
              </a:defRPr>
            </a:pPr>
            <a:r>
              <a:t>✓  OpenAI Build Week 2026</a:t>
            </a:r>
          </a:p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     Demonstrated live to global builders, validating architecture and pedagogical novelty.</a:t>
            </a:r>
          </a:p>
          <a:p>
            <a:pPr>
              <a:spcBef>
                <a:spcPts val="800"/>
              </a:spcBef>
              <a:defRPr sz="1150" b="1">
                <a:solidFill>
                  <a:srgbClr val="0F172A"/>
                </a:solidFill>
                <a:latin typeface="Montserrat"/>
              </a:defRPr>
            </a:pPr>
            <a:r>
              <a:t>✓  In-Field Teacher Feedback</a:t>
            </a:r>
          </a:p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     1-week structured evaluation with active Kenyan primary educators validating curriculum fit.</a:t>
            </a:r>
          </a:p>
          <a:p>
            <a:pPr>
              <a:spcBef>
                <a:spcPts val="800"/>
              </a:spcBef>
              <a:defRPr sz="1150" b="1">
                <a:solidFill>
                  <a:srgbClr val="0F172A"/>
                </a:solidFill>
                <a:latin typeface="Montserrat"/>
              </a:defRPr>
            </a:pPr>
            <a:r>
              <a:t>✓  Automated Quality Assurance</a:t>
            </a:r>
          </a:p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     Robust test suite verifying mathematical accuracy, ledger math, and AI failovers.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783080"/>
            <a:ext cx="5212080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492240" y="2011680"/>
            <a:ext cx="2743200" cy="3657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0081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081FB"/>
                </a:solidFill>
                <a:latin typeface="Montserrat"/>
              </a:defRPr>
            </a:pPr>
            <a:r>
              <a:t>FOUNDER &amp; LEAD ARCHITECT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514600"/>
            <a:ext cx="46634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F172A"/>
                </a:solidFill>
                <a:latin typeface="Montserrat"/>
              </a:defRPr>
            </a:pPr>
            <a:r>
              <a:t>Martin Mwai</a:t>
            </a:r>
          </a:p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Solo Technical Founder · Nairobi, Kenya</a:t>
            </a:r>
            <a:br/>
            <a:r>
              <a:t>Computer Science Graduate, Kisii University</a:t>
            </a:r>
          </a:p>
          <a:p>
            <a:pPr>
              <a:spcBef>
                <a:spcPts val="600"/>
              </a:spcBef>
              <a:defRPr sz="1050">
                <a:solidFill>
                  <a:srgbClr val="64748B"/>
                </a:solidFill>
                <a:latin typeface="Segoe UI"/>
              </a:defRPr>
            </a:pPr>
            <a:r>
              <a:t>Sole architect and engineer behind SmartDuka. Designed the end-to-end full-stack platform, multi-agent AI orchestrator, and CBC curriculum engine.</a:t>
            </a:r>
          </a:p>
          <a:p>
            <a:pPr>
              <a:spcBef>
                <a:spcPts val="800"/>
              </a:spcBef>
              <a:defRPr sz="800">
                <a:solidFill>
                  <a:srgbClr val="E2E8F0"/>
                </a:solidFill>
              </a:defRPr>
            </a:pPr>
            <a:r>
              <a:t>━━━━━━━━━━━━━━━━━━━━━━━━━━━━━━━━━━━━</a:t>
            </a:r>
          </a:p>
          <a:p>
            <a:pPr>
              <a:spcBef>
                <a:spcPts val="600"/>
              </a:spcBef>
              <a:defRPr sz="1100" b="1">
                <a:solidFill>
                  <a:srgbClr val="F59E0B"/>
                </a:solidFill>
                <a:latin typeface="Montserrat"/>
              </a:defRPr>
            </a:pPr>
            <a:r>
              <a:t>NEXT GO-TO-MARKET MILESTONE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  <a:latin typeface="Segoe UI"/>
              </a:defRPr>
            </a:pPr>
            <a:r>
              <a:t>➔  500-Student Formal Pilot across 5 partner primary schools in Nairobi &amp; peri-urban Kenya.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  <a:latin typeface="Segoe UI"/>
              </a:defRPr>
            </a:pPr>
            <a:r>
              <a:t>➔  Quantitative impact data collection: Measuring arithmetic fluency and financial numeracy gains.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  <a:latin typeface="Segoe UI"/>
              </a:defRPr>
            </a:pPr>
            <a:r>
              <a:t>➔  Team Expansion: Bringing in a school pedagogical liaison to deepen educator partnerships.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Montserrat"/>
              </a:defRPr>
            </a:pPr>
            <a:r>
              <a:t>META AI ACADEMY KENYA · CAPITAL ALLOCATION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ontserrat"/>
              </a:defRPr>
            </a:pPr>
            <a:r>
              <a:t>Deploying $5,000 to Reach 500 Rural Learners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Every dollar is directly allocated to accelerating Meta Llama edge deployment and classroom impact.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92640" y="411480"/>
            <a:ext cx="1737360" cy="365760"/>
          </a:xfrm>
          <a:prstGeom prst="roundRect">
            <a:avLst/>
          </a:prstGeom>
          <a:solidFill>
            <a:srgbClr val="1A263B"/>
          </a:solidFill>
          <a:ln w="12700">
            <a:solidFill>
              <a:srgbClr val="26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900" b="1">
                <a:solidFill>
                  <a:srgbClr val="10B981"/>
                </a:solidFill>
                <a:latin typeface="Montserrat"/>
              </a:defRPr>
            </a:pPr>
            <a:r>
              <a:t>SMARTDUKA · META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Montserrat"/>
              </a:defRPr>
            </a:pPr>
            <a:r>
              <a:t>08 / 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83080"/>
            <a:ext cx="3337560" cy="2743200"/>
          </a:xfrm>
          <a:prstGeom prst="roundRect">
            <a:avLst/>
          </a:prstGeom>
          <a:solidFill>
            <a:srgbClr val="131E31"/>
          </a:solidFill>
          <a:ln w="19050">
            <a:solidFill>
              <a:srgbClr val="0081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1920240"/>
            <a:ext cx="2971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81FB"/>
                </a:solidFill>
                <a:latin typeface="Montserrat"/>
              </a:defRPr>
            </a:pPr>
            <a:r>
              <a:t>$2,000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40% of fund allocation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6032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FFFFF"/>
                </a:solidFill>
                <a:latin typeface="Montserrat"/>
              </a:defRPr>
            </a:pPr>
            <a:r>
              <a:t>Llama Fine-Tuning &amp; Swahili/Sheng Dataset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08960"/>
            <a:ext cx="2971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1F5F9"/>
                </a:solidFill>
                <a:latin typeface="Segoe UI"/>
              </a:defRPr>
            </a:pPr>
            <a:r>
              <a:t>Fine-tune Meta Llama 3.2 on primary-level East African retail and educational dialogues for higher cultural nuance and localized dialect accuracy.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6552" y="1783080"/>
            <a:ext cx="3337560" cy="2743200"/>
          </a:xfrm>
          <a:prstGeom prst="roundRect">
            <a:avLst/>
          </a:prstGeom>
          <a:solidFill>
            <a:srgbClr val="131E31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99432" y="1920240"/>
            <a:ext cx="2971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0B981"/>
                </a:solidFill>
                <a:latin typeface="Montserrat"/>
              </a:defRPr>
            </a:pPr>
            <a:r>
              <a:t>$1,500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30% of fund allocation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256032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FFFFF"/>
                </a:solidFill>
                <a:latin typeface="Montserrat"/>
              </a:defRPr>
            </a:pPr>
            <a:r>
              <a:t>Edge &amp; PWA Infrastructure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2" y="3108960"/>
            <a:ext cx="2971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1F5F9"/>
                </a:solidFill>
                <a:latin typeface="Segoe UI"/>
              </a:defRPr>
            </a:pPr>
            <a:r>
              <a:t>Deploy regional cloud caching, automated sync pipelines, and optimized edge-serving for low-bandwidth rural school environments.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1584" y="1783080"/>
            <a:ext cx="3337560" cy="2743200"/>
          </a:xfrm>
          <a:prstGeom prst="roundRect">
            <a:avLst/>
          </a:prstGeom>
          <a:solidFill>
            <a:srgbClr val="131E31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84464" y="1920240"/>
            <a:ext cx="2971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59E0B"/>
                </a:solidFill>
                <a:latin typeface="Montserrat"/>
              </a:defRPr>
            </a:pPr>
            <a:r>
              <a:t>$1,500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30% of fund allocation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4" y="256032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FFFFF"/>
                </a:solidFill>
                <a:latin typeface="Montserrat"/>
              </a:defRPr>
            </a:pPr>
            <a:r>
              <a:t>Classroom Pilot Hardware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4464" y="3108960"/>
            <a:ext cx="2971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1F5F9"/>
                </a:solidFill>
                <a:latin typeface="Segoe UI"/>
              </a:defRPr>
            </a:pPr>
            <a:r>
              <a:t>Procure and deploy 5 low-cost shared Android test tablets across partner schools for offline testing and quantitative learning impact data.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709160"/>
            <a:ext cx="7040880" cy="1417320"/>
          </a:xfrm>
          <a:prstGeom prst="roundRect">
            <a:avLst/>
          </a:prstGeom>
          <a:solidFill>
            <a:srgbClr val="101A2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FFFFFF"/>
                </a:solidFill>
                <a:latin typeface="Montserrat"/>
              </a:defRPr>
            </a:pPr>
            <a:r>
              <a:t>“SmartDuka turns the corner shop into Africa's most scalable classroom. Built on Meta Llama.”</a:t>
            </a:r>
          </a:p>
          <a:p>
            <a:pPr>
              <a:spcBef>
                <a:spcPts val="600"/>
              </a:spcBef>
              <a:defRPr sz="1050">
                <a:solidFill>
                  <a:srgbClr val="94A3B8"/>
                </a:solidFill>
                <a:latin typeface="Segoe UI"/>
              </a:defRPr>
            </a:pPr>
            <a:r>
              <a:t>Empowering the next generation of East African problem solvers from the foundation up.</a:t>
            </a:r>
          </a:p>
        </p:txBody>
      </p:sp>
      <p:pic>
        <p:nvPicPr>
          <p:cNvPr id="21" name="Picture 20" descr="logo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4754880"/>
            <a:ext cx="1463040" cy="128016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9601200" y="4709160"/>
            <a:ext cx="1858975" cy="1417320"/>
          </a:xfrm>
          <a:prstGeom prst="roundRect">
            <a:avLst/>
          </a:prstGeom>
          <a:solidFill>
            <a:srgbClr val="131E31"/>
          </a:solidFill>
          <a:ln w="12700">
            <a:solidFill>
              <a:srgbClr val="26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10B981"/>
                </a:solidFill>
                <a:latin typeface="Montserrat"/>
              </a:defRPr>
            </a:pPr>
            <a:r>
              <a:t>GET IN TOUCH</a:t>
            </a:r>
          </a:p>
          <a:p>
            <a:pPr>
              <a:spcBef>
                <a:spcPts val="300"/>
              </a:spcBef>
              <a:defRPr sz="1300" b="1">
                <a:solidFill>
                  <a:srgbClr val="FFFFFF"/>
                </a:solidFill>
                <a:latin typeface="Montserrat"/>
              </a:defRPr>
            </a:pPr>
            <a:r>
              <a:t>Martin Mwai</a:t>
            </a:r>
          </a:p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martinmwai.vercel.app</a:t>
            </a:r>
            <a:br/>
            <a:r>
              <a:t>GitHub: lemonhead-ai</a:t>
            </a:r>
            <a:br/>
            <a:r>
              <a:t>Nairobi, Kenya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391</TotalTime>
  <Words>1550</Words>
  <Application>Microsoft Office PowerPoint</Application>
  <PresentationFormat>Widescreen</PresentationFormat>
  <Paragraphs>178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martin mwai</cp:lastModifiedBy>
  <cp:revision>2</cp:revision>
  <dcterms:created xsi:type="dcterms:W3CDTF">2013-01-27T09:14:16Z</dcterms:created>
  <dcterms:modified xsi:type="dcterms:W3CDTF">2026-09-25T21:44:28Z</dcterms:modified>
  <cp:category/>
</cp:coreProperties>
</file>