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90" autoAdjust="0"/>
    <p:restoredTop sz="94610"/>
  </p:normalViewPr>
  <p:slideViewPr>
    <p:cSldViewPr snapToGrid="0" snapToObjects="1">
      <p:cViewPr>
        <p:scale>
          <a:sx n="59" d="100"/>
          <a:sy n="59" d="100"/>
        </p:scale>
        <p:origin x="336" y="16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255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02320" y="1265408"/>
            <a:ext cx="2545617" cy="2438664"/>
          </a:xfrm>
          <a:prstGeom prst="ellipse">
            <a:avLst/>
          </a:prstGeom>
          <a:solidFill>
            <a:srgbClr val="16A34A">
              <a:alpha val="12000"/>
            </a:srgbClr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4" name="Text 2"/>
          <p:cNvSpPr txBox="1"/>
          <p:nvPr/>
        </p:nvSpPr>
        <p:spPr>
          <a:xfrm>
            <a:off x="-59140" y="4720753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Empowering Kenya's informal economy from age 6.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0" y="59436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AI Academy Kenya · Pitchathon 2026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0" y="630936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Martin Mwai</a:t>
            </a:r>
            <a:endParaRPr lang="en-US" sz="1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1962DE-95BE-4043-CD02-E9168E325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1" y="1039732"/>
            <a:ext cx="4584810" cy="3681021"/>
          </a:xfrm>
          <a:prstGeom prst="rect">
            <a:avLst/>
          </a:prstGeom>
        </p:spPr>
      </p:pic>
      <p:sp>
        <p:nvSpPr>
          <p:cNvPr id="18" name="Shape 0">
            <a:extLst>
              <a:ext uri="{FF2B5EF4-FFF2-40B4-BE49-F238E27FC236}">
                <a16:creationId xmlns:a16="http://schemas.microsoft.com/office/drawing/2014/main" id="{15E5D036-C1FB-9F3C-605E-1D38B4C2AA09}"/>
              </a:ext>
            </a:extLst>
          </p:cNvPr>
          <p:cNvSpPr/>
          <p:nvPr/>
        </p:nvSpPr>
        <p:spPr>
          <a:xfrm>
            <a:off x="78880" y="78115"/>
            <a:ext cx="3206527" cy="3060253"/>
          </a:xfrm>
          <a:prstGeom prst="ellipse">
            <a:avLst/>
          </a:prstGeom>
          <a:solidFill>
            <a:srgbClr val="16A34A">
              <a:alpha val="12000"/>
            </a:srgbClr>
          </a:solidFill>
          <a:ln/>
        </p:spPr>
        <p:txBody>
          <a:bodyPr/>
          <a:lstStyle/>
          <a:p>
            <a:endParaRPr lang="en-K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CRISIS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Kids fall behind before they even start.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48640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240280"/>
            <a:ext cx="54864" cy="347472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4071" y="2360391"/>
            <a:ext cx="4850969" cy="3171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7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Based on a true story. On my brother's first day at a new school, a teacher asked where our parent was.</a:t>
            </a:r>
            <a:endParaRPr lang="en-US" sz="1700" dirty="0"/>
          </a:p>
          <a:p>
            <a:pPr marL="0" indent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7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 answered in Kamba, our mother tongue, instead of Swahili. </a:t>
            </a:r>
            <a:endParaRPr lang="en-US" sz="1700" dirty="0"/>
          </a:p>
          <a:p>
            <a:pPr marL="0" indent="0">
              <a:lnSpc>
                <a:spcPct val="13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64748B"/>
                </a:solidFill>
                <a:effectLst>
                  <a:reflection endPos="0" dir="5400000" sy="-100000" algn="bl" rotWithShape="0"/>
                </a:effectLst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 around us even noticed that was a gap.</a:t>
            </a:r>
            <a:endParaRPr lang="en-US" sz="1600" dirty="0">
              <a:effectLst>
                <a:reflection endPos="0" dir="5400000" sy="-100000" algn="bl" rotWithShape="0"/>
              </a:effectLst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4748B"/>
                </a:solidFill>
                <a:effectLst>
                  <a:reflection endPos="0" dir="5400000" sy="-100000" algn="bl" rotWithShape="0"/>
                </a:effectLst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was just normal.</a:t>
            </a:r>
            <a:endParaRPr lang="en-US" sz="1600" dirty="0">
              <a:effectLst>
                <a:reflection endPos="0" dir="5400000" sy="-100000" algn="bl" rotWithShape="0"/>
              </a:effectLst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766560" y="1965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in 3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732520" y="194767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school children in East Africa can do basic arithmetic by Grade 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320040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3429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84%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732520" y="341071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Kenya's workforce works in the informal economy, where these skills are used every day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4663440"/>
            <a:ext cx="4800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4892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21.7%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487375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 rural Kenyans have used the internet, most EdTech assumes they have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DUKA LOOP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child already knows what a duka is.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duka — a small corner shop — is the most familiar commercial space in East Africa. SmartDuka turns it into a full learning engine.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3520440" cy="3566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743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4747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Serve Customers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319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AI-generated Kenyan customers with real shopping lists, in Swahili and English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4983480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51206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conversation adapts as items run low, negotiating substitutes in real time.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2423160"/>
            <a:ext cx="3520440" cy="3566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2743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091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709160" y="34747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Give Change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709160" y="39319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 KES transactions build numeracy the child never sees as a lesson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09160" y="4983480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51206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Coins and notes, mental arithmetic under natural time pressure.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0" y="2423160"/>
            <a:ext cx="3520440" cy="35661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9640" y="27432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496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549640" y="34747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Track the Ledger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39319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Daftari ya Deni — profit, loss, and credit, taught through play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549640" y="4983480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49640" y="512064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Children evaluate trust, record debts, and balance repayments.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&amp; AGENTS 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systems, working together in real time.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4924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286000"/>
            <a:ext cx="128016" cy="457200"/>
          </a:xfrm>
          <a:prstGeom prst="roundRect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2240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Customer Conversation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Customers speak Sheng, Swahili, and English, negotiating substitutions live — "agreeing to swap juice for milk" — while the basket updates in real time.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4617720"/>
            <a:ext cx="46177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75488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Milo, the tutor mascot, watches quietly and steps in only when a child repeats the same mistake.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965960"/>
            <a:ext cx="534924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KE" dirty="0"/>
          </a:p>
        </p:txBody>
      </p:sp>
      <p:sp>
        <p:nvSpPr>
          <p:cNvPr id="11" name="Shape 9"/>
          <p:cNvSpPr/>
          <p:nvPr/>
        </p:nvSpPr>
        <p:spPr>
          <a:xfrm>
            <a:off x="6629400" y="2286000"/>
            <a:ext cx="128016" cy="457200"/>
          </a:xfrm>
          <a:prstGeom prst="round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E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240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Daftari ya Deni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926080"/>
            <a:ext cx="4617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credit ledger system. Children evaluate a trusted customer's creditworthiness, record debits, and balance repayments — real micro-commerce, taught through play.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629400" y="4617720"/>
            <a:ext cx="46177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29400" y="475488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Introduces credit, trust, and repayment years before a bank account ever will.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49299055-C5ED-FCA4-5015-D35F88511E69}"/>
              </a:ext>
            </a:extLst>
          </p:cNvPr>
          <p:cNvSpPr/>
          <p:nvPr/>
        </p:nvSpPr>
        <p:spPr>
          <a:xfrm>
            <a:off x="741516" y="466620"/>
            <a:ext cx="4099769" cy="3941341"/>
          </a:xfrm>
          <a:prstGeom prst="ellipse">
            <a:avLst/>
          </a:prstGeom>
          <a:solidFill>
            <a:srgbClr val="16A34A">
              <a:alpha val="12000"/>
            </a:srgbClr>
          </a:solidFill>
          <a:ln/>
        </p:spPr>
        <p:txBody>
          <a:bodyPr/>
          <a:lstStyle/>
          <a:p>
            <a:endParaRPr lang="en-K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31128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OFFLINE PWA &amp; META LLAMA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on Meta Llama — online, offline, everywhere between.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4297680"/>
          </a:xfrm>
          <a:prstGeom prst="roundRect">
            <a:avLst>
              <a:gd name="adj" fmla="val 3404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1488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OpenRouter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21488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Llama 3.3 70B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48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— full cloud reasoning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3017520"/>
            <a:ext cx="10332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081528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08152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Groq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08152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Llama 3.3 70B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308152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 failover — sub-3s response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14400" y="3950208"/>
            <a:ext cx="10332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014216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4014216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Ollama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01421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Meta Llama 3.2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01421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On-device — fully offline, zero cost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4882896"/>
            <a:ext cx="103327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4946904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1737360" y="494690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Backup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494690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Montserrat" pitchFamily="34" charset="0"/>
              </a:rPr>
              <a:t>Quantized Llama Fallback Chain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94690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 self-hosted Meta ecosystem fallback 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CBC CURRICULUM ALIGNMENT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strands. One shopkeeper loop.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Numbers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Counting, addition, subtraction, bundle multiplication, fair division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10712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85032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2.0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685032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Measurement &amp; Money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3685032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85032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KES change calculation, percentage discounts, Daftari ya Deni credit tracking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47104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Language &amp; Literacy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547104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47104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Bilingual shopping lists, vocabulary matching, reading comprehension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606040" cy="384048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09176" y="2240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409176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Hygiene &amp; Nutrition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9409176" y="3703320"/>
            <a:ext cx="2057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09176" y="384048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 storekeeping, cold storage rules, shelf inspection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TRACTION, PILOT &amp; TEAM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honest snapshot of where we are.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0352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REAL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4663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 working prototype — built and tested solo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Four-tier AI failover chain, live and tested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CBC-aligned curriculum engine, Grades 1–4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Demoed live at OpenAI Build Week 2026</a:t>
            </a:r>
            <a:endParaRPr lang="en-US" sz="1400" dirty="0"/>
          </a:p>
          <a:p>
            <a:pPr marL="342900" indent="-342900">
              <a:spcAft>
                <a:spcPts val="2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teacher testing it for over a week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874520"/>
            <a:ext cx="5303520" cy="4206240"/>
          </a:xfrm>
          <a:prstGeom prst="roundRect">
            <a:avLst>
              <a:gd name="adj" fmla="val 3043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MARTIN MWAI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487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Sole Builder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9718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Computer Science graduate, Kisii University. Designed and built SmartDuka's entire system solo — architecture, agents, and curriculum engine — using Codex and Meta Llama as technical collaborators.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37960" y="4297680"/>
            <a:ext cx="46634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4434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NEXT: BRING IN TWO PEOPLE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4800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technical collaborator, and someone closer to schools who can deepen teacher relationships beyond the one I have today.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70997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 $5,000 — three specific gaps.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7920111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09397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OpenRouter API Costs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53288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real production usage of Meta Llama 3.3 70B — the current bottleneck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7920111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20040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3284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Hosting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376732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Move off default hosting onto SmartDuka's own domain and infrastructure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7835705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434840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45628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 Devices &amp; Connectivity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500176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SmartDuka in front of a real classroom for the first time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4A3B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github.com/lemonhead-ai/SmartDuka  ·  Martin Mwai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i="1" dirty="0">
                <a:solidFill>
                  <a:srgbClr val="16A3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make Africa a land of great minds.</a:t>
            </a:r>
            <a:endParaRPr lang="en-US" sz="11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3B1D2F0-FABF-1DF2-0719-0E09D065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7849" y="2450906"/>
            <a:ext cx="2545511" cy="20437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</TotalTime>
  <Words>696</Words>
  <Application>Microsoft Office PowerPoint</Application>
  <PresentationFormat>Widescreen</PresentationFormat>
  <Paragraphs>110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martin mwai</cp:lastModifiedBy>
  <cp:revision>3</cp:revision>
  <dcterms:created xsi:type="dcterms:W3CDTF">2026-09-23T05:27:51Z</dcterms:created>
  <dcterms:modified xsi:type="dcterms:W3CDTF">2026-09-24T20:07:35Z</dcterms:modified>
</cp:coreProperties>
</file>