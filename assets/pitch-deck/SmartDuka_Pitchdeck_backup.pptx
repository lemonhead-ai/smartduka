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90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75" y="15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255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2320" y="1265408"/>
            <a:ext cx="2545617" cy="2438664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4" name="Text 2"/>
          <p:cNvSpPr txBox="1"/>
          <p:nvPr/>
        </p:nvSpPr>
        <p:spPr>
          <a:xfrm>
            <a:off x="-59140" y="4720753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AI-Powered, gamified </a:t>
            </a:r>
            <a:r>
              <a:rPr lang="en-US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numeracy &amp; financial literacy for early learners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AI Academy Kenya · Pitchathon 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63093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 – Solo Founder</a:t>
            </a:r>
            <a:endParaRPr lang="en-US" sz="1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1962DE-95BE-4043-CD02-E9168E325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1" y="1039732"/>
            <a:ext cx="4584810" cy="3681021"/>
          </a:xfrm>
          <a:prstGeom prst="rect">
            <a:avLst/>
          </a:prstGeom>
        </p:spPr>
      </p:pic>
      <p:sp>
        <p:nvSpPr>
          <p:cNvPr id="18" name="Shape 0">
            <a:extLst>
              <a:ext uri="{FF2B5EF4-FFF2-40B4-BE49-F238E27FC236}">
                <a16:creationId xmlns:a16="http://schemas.microsoft.com/office/drawing/2014/main" id="{15E5D036-C1FB-9F3C-605E-1D38B4C2AA09}"/>
              </a:ext>
            </a:extLst>
          </p:cNvPr>
          <p:cNvSpPr/>
          <p:nvPr/>
        </p:nvSpPr>
        <p:spPr>
          <a:xfrm>
            <a:off x="78880" y="78115"/>
            <a:ext cx="3206527" cy="3060253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54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CRISIS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Kids fall behind before they even start.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48640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40280"/>
            <a:ext cx="54864" cy="34747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32520" y="19476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93992" y="3287486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93992" y="4823098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1AB216-E3A7-3D22-8002-67CC96180CE6}"/>
              </a:ext>
            </a:extLst>
          </p:cNvPr>
          <p:cNvSpPr txBox="1"/>
          <p:nvPr/>
        </p:nvSpPr>
        <p:spPr>
          <a:xfrm>
            <a:off x="433977" y="1293257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/>
              <a:t>Foundational literacy and applied numeracy gaps compound quietly into permanent economic exclusion.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BD5708-A066-EA79-189F-FAE2B1ECE816}"/>
              </a:ext>
            </a:extLst>
          </p:cNvPr>
          <p:cNvSpPr txBox="1"/>
          <p:nvPr/>
        </p:nvSpPr>
        <p:spPr>
          <a:xfrm>
            <a:off x="1188720" y="2209978"/>
            <a:ext cx="438912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rPr lang="en-US" sz="1400" dirty="0"/>
              <a:t>Based on a</a:t>
            </a:r>
            <a:r>
              <a:rPr sz="1400" dirty="0"/>
              <a:t> TRUE STORY</a:t>
            </a:r>
          </a:p>
          <a:p>
            <a:pPr>
              <a:spcBef>
                <a:spcPts val="1000"/>
              </a:spcBef>
              <a:defRPr sz="1400" i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“On my brother’s first day at a new school, the teacher asked where our parents were. He answered in Kamba instead of Swahili.</a:t>
            </a:r>
            <a:br>
              <a:rPr sz="1400" dirty="0"/>
            </a:br>
            <a:br>
              <a:rPr sz="1400" dirty="0"/>
            </a:br>
            <a:r>
              <a:rPr sz="1400" dirty="0"/>
              <a:t>In Kenya, language and conceptual gaps don't announce themselves — they become normal.”</a:t>
            </a:r>
          </a:p>
          <a:p>
            <a:pPr>
              <a:spcBef>
                <a:spcPts val="1200"/>
              </a:spcBef>
              <a:defRPr sz="1100" b="1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— Martin Mwai, Founder &amp; Lead Architect</a:t>
            </a:r>
          </a:p>
          <a:p>
            <a:pPr>
              <a:spcBef>
                <a:spcPts val="14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Abstract Western EdTech drills ignore this reality. Children fail not from lack of intelligence, but because existing tools assume high-bandwidth connectivity and foreign idioms.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758FF1-DDDB-A6BC-18FD-B47768A63164}"/>
              </a:ext>
            </a:extLst>
          </p:cNvPr>
          <p:cNvSpPr txBox="1"/>
          <p:nvPr/>
        </p:nvSpPr>
        <p:spPr>
          <a:xfrm>
            <a:off x="6798346" y="1749538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  <a:latin typeface="Montserrat"/>
              </a:defRPr>
            </a:pPr>
            <a:r>
              <a:rPr dirty="0"/>
              <a:t>1 in 3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Primary learners in East Africa achieve basic arithmetic by Grade 3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Over 90% of children in Sub-Saharan Africa cannot read or perform basic arithmetic by age 10.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555572-D388-ED8C-D3CD-004AFD85613F}"/>
              </a:ext>
            </a:extLst>
          </p:cNvPr>
          <p:cNvSpPr txBox="1"/>
          <p:nvPr/>
        </p:nvSpPr>
        <p:spPr>
          <a:xfrm>
            <a:off x="6793992" y="3348097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Montserrat"/>
              </a:defRPr>
            </a:pPr>
            <a:r>
              <a:rPr dirty="0"/>
              <a:t>84%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Of Kenya's workforce operates within the informal economy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Applied mental math, trade negotiation, and trust are fundamental daily survival skills.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F237B1-0108-89B0-2B5B-DAB34B98310E}"/>
              </a:ext>
            </a:extLst>
          </p:cNvPr>
          <p:cNvSpPr txBox="1"/>
          <p:nvPr/>
        </p:nvSpPr>
        <p:spPr>
          <a:xfrm>
            <a:off x="6798346" y="4903023"/>
            <a:ext cx="46634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81FB"/>
                </a:solidFill>
                <a:latin typeface="Montserrat"/>
              </a:defRPr>
            </a:pPr>
            <a:r>
              <a:rPr dirty="0"/>
              <a:t>78.3% Offline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rPr sz="1400" dirty="0"/>
              <a:t>With only 21.7% rural internet penetration, cloud EdTech fails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rPr sz="1400" dirty="0"/>
              <a:t>Mainstream solutions require high-speed continuous data, locking out millions of rural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CORE PRODUCT MECHANIC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child already knows what a duka is.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8780"/>
            <a:ext cx="10881360" cy="595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Duka (corner shop) is the most familiar commercial space in East Africa. SmartDuka turns it into an adaptive, gamified learning loop.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59"/>
            <a:ext cx="3520440" cy="3977641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7660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 Customers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31919"/>
            <a:ext cx="2880360" cy="1655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Kenyan customers with real shopping lists, in Swahili and English</a:t>
            </a:r>
          </a:p>
          <a:p>
            <a:pPr>
              <a:lnSpc>
                <a:spcPct val="125000"/>
              </a:lnSpc>
            </a:pPr>
            <a:b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 stock negotiation: Customers adapt when goods run low.</a:t>
            </a:r>
            <a:b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</a:b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1999" y="568016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1999" y="5748784"/>
            <a:ext cx="288036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conversation adapts as items run low, negotiating substitutes in real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423160"/>
            <a:ext cx="3520440" cy="39776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509260" y="2788920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Give Change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3930468"/>
            <a:ext cx="2880360" cy="1542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KES transactions build numeracy the child never sees as a lesson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250" dirty="0">
              <a:solidFill>
                <a:srgbClr val="64748B"/>
              </a:solidFill>
              <a:latin typeface="Montserrat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</a:rPr>
              <a:t>Fast mental math under natural shop pressure without timed panic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09160" y="568524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5748784"/>
            <a:ext cx="288036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Coins and notes, mental arithmetic under natural time pressure.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2423160"/>
            <a:ext cx="3520440" cy="39776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20" name="Shape 18"/>
          <p:cNvSpPr/>
          <p:nvPr/>
        </p:nvSpPr>
        <p:spPr>
          <a:xfrm>
            <a:off x="854964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496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60840" y="27889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the Ledger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852416"/>
            <a:ext cx="2880360" cy="162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Evaluate customer trust, verify repayment dates and issue credit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250" dirty="0">
              <a:solidFill>
                <a:srgbClr val="64748B"/>
              </a:solidFill>
              <a:latin typeface="Montserrat" pitchFamily="34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</a:rPr>
              <a:t>Balances profit, loss, and community accountability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85632" y="5680166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49640" y="5751687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Children evaluate trust, record debts, and balance repayments.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A21C83-BBF3-B24C-BEB3-231BF402F223}"/>
              </a:ext>
            </a:extLst>
          </p:cNvPr>
          <p:cNvSpPr txBox="1"/>
          <p:nvPr/>
        </p:nvSpPr>
        <p:spPr>
          <a:xfrm>
            <a:off x="4585715" y="3383280"/>
            <a:ext cx="270771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Applied Mental Arithmetic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BF5670-C9F0-0E55-BCB5-9739E38DCC44}"/>
              </a:ext>
            </a:extLst>
          </p:cNvPr>
          <p:cNvSpPr txBox="1"/>
          <p:nvPr/>
        </p:nvSpPr>
        <p:spPr>
          <a:xfrm>
            <a:off x="761999" y="3300694"/>
            <a:ext cx="269965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Real-Time NPC Dialogue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BCD48C-C994-05AD-E8CB-DEE609897AD7}"/>
              </a:ext>
            </a:extLst>
          </p:cNvPr>
          <p:cNvSpPr txBox="1"/>
          <p:nvPr/>
        </p:nvSpPr>
        <p:spPr>
          <a:xfrm>
            <a:off x="8460740" y="3383279"/>
            <a:ext cx="29692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rPr dirty="0"/>
              <a:t>Daftari ya Deni (Credit Ledger)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&amp; AGENTS 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systems, working together in real 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8600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2240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Customer Conversation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Customers speak Sheng, Swahili, and English, negotiating substitutions live — "agreeing to swap juice for milk" — while the basket updates in real time.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461772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754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Milo, the tutor mascot, watches quietly and steps in only when a child repeats the same mistake.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34924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11" name="Shape 9"/>
          <p:cNvSpPr/>
          <p:nvPr/>
        </p:nvSpPr>
        <p:spPr>
          <a:xfrm>
            <a:off x="6629400" y="228600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240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Daftari ya Deni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92608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credit ledger system. Children evaluate a trusted customer's creditworthiness, record debits, and balance repayments — real micro-commerce, taught through play.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629400" y="461772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4754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Introduces credit, trust, and repayment years before a bank account ever will.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49299055-C5ED-FCA4-5015-D35F88511E69}"/>
              </a:ext>
            </a:extLst>
          </p:cNvPr>
          <p:cNvSpPr/>
          <p:nvPr/>
        </p:nvSpPr>
        <p:spPr>
          <a:xfrm>
            <a:off x="741516" y="466620"/>
            <a:ext cx="4099769" cy="3941341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1128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 PWA &amp; META LLAMA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on Meta Llama — online, offline, everywhere between.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4297680"/>
          </a:xfrm>
          <a:prstGeom prst="roundRect">
            <a:avLst>
              <a:gd name="adj" fmla="val 3404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148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OpenRouter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148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3.3 70B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48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— full cloud reasoning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017520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815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0815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Groq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08152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3.3 70B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815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 failover — sub-3s response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4400" y="3950208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014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014216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Ollama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01421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1421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On-device — fully offline, zero cost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882896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946904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494690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94690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</a:rPr>
              <a:t>Quantized Llama Fallback Chain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94690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 self-hosted Meta ecosystem fallback 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 CURRICULUM ALIGNMENT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strands. One shopkeeper loop.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Counting, addition, subtraction, bundle multiplication, fair division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0712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85032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Measurement &amp; Money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3685032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85032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KES change calculation, percentage discounts, Daftari ya Deni credit tracking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47104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 &amp; Literacy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547104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Bilingual shopping lists, vocabulary matching, reading comprehension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176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Hygiene &amp; Nutrition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9409176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09176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 storekeeping, cold storage rules, shelf inspection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TRACTION, PILOT &amp;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honest snapshot of where we are.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035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REAL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 working prototype — built and tested solo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Four-tier AI failover chain, live and tested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CBC-aligned curriculum engine, Grades 1–4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Demoed live at OpenAI Build Week 2026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teacher testing it for over a week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74520"/>
            <a:ext cx="5303520" cy="4206240"/>
          </a:xfrm>
          <a:prstGeom prst="roundRect">
            <a:avLst>
              <a:gd name="adj" fmla="val 304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Sole Builder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9718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Computer Science graduate, Kisii University. Designed and built SmartDuka's entire system solo — architecture, agents, and curriculum engine — using Codex and Meta Llama as technical collaborators.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37960" y="4297680"/>
            <a:ext cx="46634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NEXT: BRING IN TWO PEOPLE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4800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technical collaborator, and someone closer to schools who can deepen teacher relationships beyond the one I have today.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0997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 $5,000 — three specific gaps.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7920111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0939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OpenRouter API Costs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328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real production usage of Meta Llama 3.3 70B — the current bottleneck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7920111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20040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284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Hosting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76732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Move off default hosting onto SmartDuka's own domain and infrastructure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7835705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43484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5628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 Devices &amp; Connectivity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5001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SmartDuka in front of a real classroom for the first time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github.com/lemonhead-ai/SmartDuka  ·  Martin Mwai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i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make Africa a land of great minds.</a:t>
            </a:r>
            <a:endParaRPr lang="en-US" sz="11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B1D2F0-FABF-1DF2-0719-0E09D065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849" y="2450906"/>
            <a:ext cx="2545511" cy="20437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</TotalTime>
  <Words>823</Words>
  <Application>Microsoft Office PowerPoint</Application>
  <PresentationFormat>Widescreen</PresentationFormat>
  <Paragraphs>122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martin mwai</cp:lastModifiedBy>
  <cp:revision>4</cp:revision>
  <dcterms:created xsi:type="dcterms:W3CDTF">2026-09-23T05:27:51Z</dcterms:created>
  <dcterms:modified xsi:type="dcterms:W3CDTF">2026-09-25T21:44:23Z</dcterms:modified>
</cp:coreProperties>
</file>